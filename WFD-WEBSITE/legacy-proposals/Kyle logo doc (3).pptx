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3" r:id="rId2"/>
    <p:sldId id="265" r:id="rId3"/>
    <p:sldId id="266" r:id="rId4"/>
    <p:sldId id="264" r:id="rId5"/>
    <p:sldId id="256" r:id="rId6"/>
    <p:sldId id="258" r:id="rId7"/>
    <p:sldId id="259" r:id="rId8"/>
    <p:sldId id="257" r:id="rId9"/>
    <p:sldId id="262"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CFC91D-228C-FE49-B29F-44325849BBBC}" v="23" dt="2026-05-26T20:15:35.9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16" d="100"/>
          <a:sy n="116" d="100"/>
        </p:scale>
        <p:origin x="8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1843C-7091-1D4F-8B4C-0F5373F7C7A5}" type="datetimeFigureOut">
              <a:rPr lang="en-US" smtClean="0"/>
              <a:t>5/26/26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595006-6641-FC4D-BE11-F8AA72CA780D}" type="slidenum">
              <a:rPr lang="en-US" smtClean="0"/>
              <a:t>‹#›</a:t>
            </a:fld>
            <a:endParaRPr lang="en-US"/>
          </a:p>
        </p:txBody>
      </p:sp>
    </p:spTree>
    <p:extLst>
      <p:ext uri="{BB962C8B-B14F-4D97-AF65-F5344CB8AC3E}">
        <p14:creationId xmlns:p14="http://schemas.microsoft.com/office/powerpoint/2010/main" val="159373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595006-6641-FC4D-BE11-F8AA72CA780D}" type="slidenum">
              <a:rPr lang="en-US" smtClean="0"/>
              <a:t>6</a:t>
            </a:fld>
            <a:endParaRPr lang="en-US"/>
          </a:p>
        </p:txBody>
      </p:sp>
    </p:spTree>
    <p:extLst>
      <p:ext uri="{BB962C8B-B14F-4D97-AF65-F5344CB8AC3E}">
        <p14:creationId xmlns:p14="http://schemas.microsoft.com/office/powerpoint/2010/main" val="3606632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1C054-2AF5-8293-3476-0DE6B8CC08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C39E9E-860D-7720-2836-4A92B4C0D7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7AABB0-4C91-242D-62E4-427B1FCBA579}"/>
              </a:ext>
            </a:extLst>
          </p:cNvPr>
          <p:cNvSpPr>
            <a:spLocks noGrp="1"/>
          </p:cNvSpPr>
          <p:nvPr>
            <p:ph type="dt" sz="half" idx="10"/>
          </p:nvPr>
        </p:nvSpPr>
        <p:spPr/>
        <p:txBody>
          <a:bodyPr/>
          <a:lstStyle/>
          <a:p>
            <a:fld id="{F93BD4DA-A50B-B541-B3F5-D39952161FA4}" type="datetimeFigureOut">
              <a:rPr lang="en-US" smtClean="0"/>
              <a:t>5/26/26</a:t>
            </a:fld>
            <a:endParaRPr lang="en-US"/>
          </a:p>
        </p:txBody>
      </p:sp>
      <p:sp>
        <p:nvSpPr>
          <p:cNvPr id="5" name="Footer Placeholder 4">
            <a:extLst>
              <a:ext uri="{FF2B5EF4-FFF2-40B4-BE49-F238E27FC236}">
                <a16:creationId xmlns:a16="http://schemas.microsoft.com/office/drawing/2014/main" id="{837728EB-126F-8C23-45C3-1B3DD11470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A5A61D-3981-94EC-E873-913D052E2C8B}"/>
              </a:ext>
            </a:extLst>
          </p:cNvPr>
          <p:cNvSpPr>
            <a:spLocks noGrp="1"/>
          </p:cNvSpPr>
          <p:nvPr>
            <p:ph type="sldNum" sz="quarter" idx="12"/>
          </p:nvPr>
        </p:nvSpPr>
        <p:spPr/>
        <p:txBody>
          <a:bodyPr/>
          <a:lstStyle/>
          <a:p>
            <a:fld id="{6D572C98-A791-AD46-AAB3-5BE4F026C018}" type="slidenum">
              <a:rPr lang="en-US" smtClean="0"/>
              <a:t>‹#›</a:t>
            </a:fld>
            <a:endParaRPr lang="en-US"/>
          </a:p>
        </p:txBody>
      </p:sp>
    </p:spTree>
    <p:extLst>
      <p:ext uri="{BB962C8B-B14F-4D97-AF65-F5344CB8AC3E}">
        <p14:creationId xmlns:p14="http://schemas.microsoft.com/office/powerpoint/2010/main" val="545669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0ECC3-3839-5B80-3E6F-311A6128D1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324725-FE95-D589-263A-D10FD7362F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3EDA8D-C12C-2A90-4B96-F1CD41CA22B8}"/>
              </a:ext>
            </a:extLst>
          </p:cNvPr>
          <p:cNvSpPr>
            <a:spLocks noGrp="1"/>
          </p:cNvSpPr>
          <p:nvPr>
            <p:ph type="dt" sz="half" idx="10"/>
          </p:nvPr>
        </p:nvSpPr>
        <p:spPr/>
        <p:txBody>
          <a:bodyPr/>
          <a:lstStyle/>
          <a:p>
            <a:fld id="{F93BD4DA-A50B-B541-B3F5-D39952161FA4}" type="datetimeFigureOut">
              <a:rPr lang="en-US" smtClean="0"/>
              <a:t>5/26/26</a:t>
            </a:fld>
            <a:endParaRPr lang="en-US"/>
          </a:p>
        </p:txBody>
      </p:sp>
      <p:sp>
        <p:nvSpPr>
          <p:cNvPr id="5" name="Footer Placeholder 4">
            <a:extLst>
              <a:ext uri="{FF2B5EF4-FFF2-40B4-BE49-F238E27FC236}">
                <a16:creationId xmlns:a16="http://schemas.microsoft.com/office/drawing/2014/main" id="{DB244E94-56A5-A646-4CBC-5D4C5C613B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32B034-F531-AED7-FCC7-A9545814568B}"/>
              </a:ext>
            </a:extLst>
          </p:cNvPr>
          <p:cNvSpPr>
            <a:spLocks noGrp="1"/>
          </p:cNvSpPr>
          <p:nvPr>
            <p:ph type="sldNum" sz="quarter" idx="12"/>
          </p:nvPr>
        </p:nvSpPr>
        <p:spPr/>
        <p:txBody>
          <a:bodyPr/>
          <a:lstStyle/>
          <a:p>
            <a:fld id="{6D572C98-A791-AD46-AAB3-5BE4F026C018}" type="slidenum">
              <a:rPr lang="en-US" smtClean="0"/>
              <a:t>‹#›</a:t>
            </a:fld>
            <a:endParaRPr lang="en-US"/>
          </a:p>
        </p:txBody>
      </p:sp>
    </p:spTree>
    <p:extLst>
      <p:ext uri="{BB962C8B-B14F-4D97-AF65-F5344CB8AC3E}">
        <p14:creationId xmlns:p14="http://schemas.microsoft.com/office/powerpoint/2010/main" val="638927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83C60-3EC4-8C5E-DCC0-5FEAE69388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88F05D-CFC2-6DEB-F851-69381CB154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EB83EE-9056-1905-EC5F-2A0CBD278424}"/>
              </a:ext>
            </a:extLst>
          </p:cNvPr>
          <p:cNvSpPr>
            <a:spLocks noGrp="1"/>
          </p:cNvSpPr>
          <p:nvPr>
            <p:ph type="dt" sz="half" idx="10"/>
          </p:nvPr>
        </p:nvSpPr>
        <p:spPr/>
        <p:txBody>
          <a:bodyPr/>
          <a:lstStyle/>
          <a:p>
            <a:fld id="{F93BD4DA-A50B-B541-B3F5-D39952161FA4}" type="datetimeFigureOut">
              <a:rPr lang="en-US" smtClean="0"/>
              <a:t>5/26/26</a:t>
            </a:fld>
            <a:endParaRPr lang="en-US"/>
          </a:p>
        </p:txBody>
      </p:sp>
      <p:sp>
        <p:nvSpPr>
          <p:cNvPr id="5" name="Footer Placeholder 4">
            <a:extLst>
              <a:ext uri="{FF2B5EF4-FFF2-40B4-BE49-F238E27FC236}">
                <a16:creationId xmlns:a16="http://schemas.microsoft.com/office/drawing/2014/main" id="{8FB10878-0A76-305B-97FF-322D985FEB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2BD190-E9D5-B363-CA6D-E7FB7E844469}"/>
              </a:ext>
            </a:extLst>
          </p:cNvPr>
          <p:cNvSpPr>
            <a:spLocks noGrp="1"/>
          </p:cNvSpPr>
          <p:nvPr>
            <p:ph type="sldNum" sz="quarter" idx="12"/>
          </p:nvPr>
        </p:nvSpPr>
        <p:spPr/>
        <p:txBody>
          <a:bodyPr/>
          <a:lstStyle/>
          <a:p>
            <a:fld id="{6D572C98-A791-AD46-AAB3-5BE4F026C018}" type="slidenum">
              <a:rPr lang="en-US" smtClean="0"/>
              <a:t>‹#›</a:t>
            </a:fld>
            <a:endParaRPr lang="en-US"/>
          </a:p>
        </p:txBody>
      </p:sp>
    </p:spTree>
    <p:extLst>
      <p:ext uri="{BB962C8B-B14F-4D97-AF65-F5344CB8AC3E}">
        <p14:creationId xmlns:p14="http://schemas.microsoft.com/office/powerpoint/2010/main" val="2957341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FDE4C-E255-4411-1508-0E9083F8DA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7BCDD3-3D8E-B0F6-039D-AD553636B3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42A1D7-5B1C-F491-49B8-C7A9481C4E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CD884F-B7A0-DB3E-454C-5DA0B1DAE927}"/>
              </a:ext>
            </a:extLst>
          </p:cNvPr>
          <p:cNvSpPr>
            <a:spLocks noGrp="1"/>
          </p:cNvSpPr>
          <p:nvPr>
            <p:ph type="dt" sz="half" idx="10"/>
          </p:nvPr>
        </p:nvSpPr>
        <p:spPr/>
        <p:txBody>
          <a:bodyPr/>
          <a:lstStyle/>
          <a:p>
            <a:fld id="{F93BD4DA-A50B-B541-B3F5-D39952161FA4}" type="datetimeFigureOut">
              <a:rPr lang="en-US" smtClean="0"/>
              <a:t>5/26/26</a:t>
            </a:fld>
            <a:endParaRPr lang="en-US"/>
          </a:p>
        </p:txBody>
      </p:sp>
      <p:sp>
        <p:nvSpPr>
          <p:cNvPr id="6" name="Footer Placeholder 5">
            <a:extLst>
              <a:ext uri="{FF2B5EF4-FFF2-40B4-BE49-F238E27FC236}">
                <a16:creationId xmlns:a16="http://schemas.microsoft.com/office/drawing/2014/main" id="{FF98B432-C3F2-1C9F-1A42-F3E96CDDDF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21BE62-50A7-1773-C58E-00B061B480E2}"/>
              </a:ext>
            </a:extLst>
          </p:cNvPr>
          <p:cNvSpPr>
            <a:spLocks noGrp="1"/>
          </p:cNvSpPr>
          <p:nvPr>
            <p:ph type="sldNum" sz="quarter" idx="12"/>
          </p:nvPr>
        </p:nvSpPr>
        <p:spPr/>
        <p:txBody>
          <a:bodyPr/>
          <a:lstStyle/>
          <a:p>
            <a:fld id="{6D572C98-A791-AD46-AAB3-5BE4F026C018}" type="slidenum">
              <a:rPr lang="en-US" smtClean="0"/>
              <a:t>‹#›</a:t>
            </a:fld>
            <a:endParaRPr lang="en-US"/>
          </a:p>
        </p:txBody>
      </p:sp>
    </p:spTree>
    <p:extLst>
      <p:ext uri="{BB962C8B-B14F-4D97-AF65-F5344CB8AC3E}">
        <p14:creationId xmlns:p14="http://schemas.microsoft.com/office/powerpoint/2010/main" val="4290307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FA661-6B21-3E3E-B36E-C9381884A1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748FDD-F367-DBC4-A910-17379BE866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D89F9A-706B-F058-E54F-784ACFCD5F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837320-B292-13F7-EAE6-85B6FC4DC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04F984-581B-0DE2-2ABC-8A3CC5BFD5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2C78E2F-444D-5763-8EAC-2E56A16075E0}"/>
              </a:ext>
            </a:extLst>
          </p:cNvPr>
          <p:cNvSpPr>
            <a:spLocks noGrp="1"/>
          </p:cNvSpPr>
          <p:nvPr>
            <p:ph type="dt" sz="half" idx="10"/>
          </p:nvPr>
        </p:nvSpPr>
        <p:spPr/>
        <p:txBody>
          <a:bodyPr/>
          <a:lstStyle/>
          <a:p>
            <a:fld id="{F93BD4DA-A50B-B541-B3F5-D39952161FA4}" type="datetimeFigureOut">
              <a:rPr lang="en-US" smtClean="0"/>
              <a:t>5/26/26</a:t>
            </a:fld>
            <a:endParaRPr lang="en-US"/>
          </a:p>
        </p:txBody>
      </p:sp>
      <p:sp>
        <p:nvSpPr>
          <p:cNvPr id="8" name="Footer Placeholder 7">
            <a:extLst>
              <a:ext uri="{FF2B5EF4-FFF2-40B4-BE49-F238E27FC236}">
                <a16:creationId xmlns:a16="http://schemas.microsoft.com/office/drawing/2014/main" id="{F7E5808B-14B7-2178-E921-7FA26EE3A9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406735-5243-F7AC-333C-8CB56A275E0A}"/>
              </a:ext>
            </a:extLst>
          </p:cNvPr>
          <p:cNvSpPr>
            <a:spLocks noGrp="1"/>
          </p:cNvSpPr>
          <p:nvPr>
            <p:ph type="sldNum" sz="quarter" idx="12"/>
          </p:nvPr>
        </p:nvSpPr>
        <p:spPr/>
        <p:txBody>
          <a:bodyPr/>
          <a:lstStyle/>
          <a:p>
            <a:fld id="{6D572C98-A791-AD46-AAB3-5BE4F026C018}" type="slidenum">
              <a:rPr lang="en-US" smtClean="0"/>
              <a:t>‹#›</a:t>
            </a:fld>
            <a:endParaRPr lang="en-US"/>
          </a:p>
        </p:txBody>
      </p:sp>
    </p:spTree>
    <p:extLst>
      <p:ext uri="{BB962C8B-B14F-4D97-AF65-F5344CB8AC3E}">
        <p14:creationId xmlns:p14="http://schemas.microsoft.com/office/powerpoint/2010/main" val="1413960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F0E45-D864-93A1-2D19-93F391D56C4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40224F-960B-5433-98CF-4FAB16635557}"/>
              </a:ext>
            </a:extLst>
          </p:cNvPr>
          <p:cNvSpPr>
            <a:spLocks noGrp="1"/>
          </p:cNvSpPr>
          <p:nvPr>
            <p:ph type="dt" sz="half" idx="10"/>
          </p:nvPr>
        </p:nvSpPr>
        <p:spPr/>
        <p:txBody>
          <a:bodyPr/>
          <a:lstStyle/>
          <a:p>
            <a:fld id="{F93BD4DA-A50B-B541-B3F5-D39952161FA4}" type="datetimeFigureOut">
              <a:rPr lang="en-US" smtClean="0"/>
              <a:t>5/26/26</a:t>
            </a:fld>
            <a:endParaRPr lang="en-US"/>
          </a:p>
        </p:txBody>
      </p:sp>
      <p:sp>
        <p:nvSpPr>
          <p:cNvPr id="4" name="Footer Placeholder 3">
            <a:extLst>
              <a:ext uri="{FF2B5EF4-FFF2-40B4-BE49-F238E27FC236}">
                <a16:creationId xmlns:a16="http://schemas.microsoft.com/office/drawing/2014/main" id="{47E8FDF6-928B-8859-7F0D-AFB671DC2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C94E9B-D7C1-0A2C-C107-0BE850C7EEE8}"/>
              </a:ext>
            </a:extLst>
          </p:cNvPr>
          <p:cNvSpPr>
            <a:spLocks noGrp="1"/>
          </p:cNvSpPr>
          <p:nvPr>
            <p:ph type="sldNum" sz="quarter" idx="12"/>
          </p:nvPr>
        </p:nvSpPr>
        <p:spPr/>
        <p:txBody>
          <a:bodyPr/>
          <a:lstStyle/>
          <a:p>
            <a:fld id="{6D572C98-A791-AD46-AAB3-5BE4F026C018}" type="slidenum">
              <a:rPr lang="en-US" smtClean="0"/>
              <a:t>‹#›</a:t>
            </a:fld>
            <a:endParaRPr lang="en-US"/>
          </a:p>
        </p:txBody>
      </p:sp>
    </p:spTree>
    <p:extLst>
      <p:ext uri="{BB962C8B-B14F-4D97-AF65-F5344CB8AC3E}">
        <p14:creationId xmlns:p14="http://schemas.microsoft.com/office/powerpoint/2010/main" val="3016475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8BB3C9-EC5F-509A-E6EE-02C6A1B719E0}"/>
              </a:ext>
            </a:extLst>
          </p:cNvPr>
          <p:cNvSpPr>
            <a:spLocks noGrp="1"/>
          </p:cNvSpPr>
          <p:nvPr>
            <p:ph type="dt" sz="half" idx="10"/>
          </p:nvPr>
        </p:nvSpPr>
        <p:spPr/>
        <p:txBody>
          <a:bodyPr/>
          <a:lstStyle/>
          <a:p>
            <a:fld id="{F93BD4DA-A50B-B541-B3F5-D39952161FA4}" type="datetimeFigureOut">
              <a:rPr lang="en-US" smtClean="0"/>
              <a:t>5/26/26</a:t>
            </a:fld>
            <a:endParaRPr lang="en-US"/>
          </a:p>
        </p:txBody>
      </p:sp>
      <p:sp>
        <p:nvSpPr>
          <p:cNvPr id="3" name="Footer Placeholder 2">
            <a:extLst>
              <a:ext uri="{FF2B5EF4-FFF2-40B4-BE49-F238E27FC236}">
                <a16:creationId xmlns:a16="http://schemas.microsoft.com/office/drawing/2014/main" id="{7D06F53B-3DA5-3476-A36B-53F4354F2A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11442D-A734-EB27-600C-1565E6733140}"/>
              </a:ext>
            </a:extLst>
          </p:cNvPr>
          <p:cNvSpPr>
            <a:spLocks noGrp="1"/>
          </p:cNvSpPr>
          <p:nvPr>
            <p:ph type="sldNum" sz="quarter" idx="12"/>
          </p:nvPr>
        </p:nvSpPr>
        <p:spPr/>
        <p:txBody>
          <a:bodyPr/>
          <a:lstStyle/>
          <a:p>
            <a:fld id="{6D572C98-A791-AD46-AAB3-5BE4F026C018}" type="slidenum">
              <a:rPr lang="en-US" smtClean="0"/>
              <a:t>‹#›</a:t>
            </a:fld>
            <a:endParaRPr lang="en-US"/>
          </a:p>
        </p:txBody>
      </p:sp>
    </p:spTree>
    <p:extLst>
      <p:ext uri="{BB962C8B-B14F-4D97-AF65-F5344CB8AC3E}">
        <p14:creationId xmlns:p14="http://schemas.microsoft.com/office/powerpoint/2010/main" val="3912189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D260B-6B58-36EA-C401-9C9FAC0924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AE3CED-47CD-32CB-6801-F7C343C6F5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D2775E-9517-09CB-D618-FFC692482D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8DFA1B-E56D-E0E7-BF0F-F4AA57CE6E26}"/>
              </a:ext>
            </a:extLst>
          </p:cNvPr>
          <p:cNvSpPr>
            <a:spLocks noGrp="1"/>
          </p:cNvSpPr>
          <p:nvPr>
            <p:ph type="dt" sz="half" idx="10"/>
          </p:nvPr>
        </p:nvSpPr>
        <p:spPr/>
        <p:txBody>
          <a:bodyPr/>
          <a:lstStyle/>
          <a:p>
            <a:fld id="{F93BD4DA-A50B-B541-B3F5-D39952161FA4}" type="datetimeFigureOut">
              <a:rPr lang="en-US" smtClean="0"/>
              <a:t>5/26/26</a:t>
            </a:fld>
            <a:endParaRPr lang="en-US"/>
          </a:p>
        </p:txBody>
      </p:sp>
      <p:sp>
        <p:nvSpPr>
          <p:cNvPr id="6" name="Footer Placeholder 5">
            <a:extLst>
              <a:ext uri="{FF2B5EF4-FFF2-40B4-BE49-F238E27FC236}">
                <a16:creationId xmlns:a16="http://schemas.microsoft.com/office/drawing/2014/main" id="{64457492-B325-9B13-CE8A-4BE88693AA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A4E38A-7CC7-78AB-3F8F-9CA3CC6340BB}"/>
              </a:ext>
            </a:extLst>
          </p:cNvPr>
          <p:cNvSpPr>
            <a:spLocks noGrp="1"/>
          </p:cNvSpPr>
          <p:nvPr>
            <p:ph type="sldNum" sz="quarter" idx="12"/>
          </p:nvPr>
        </p:nvSpPr>
        <p:spPr/>
        <p:txBody>
          <a:bodyPr/>
          <a:lstStyle/>
          <a:p>
            <a:fld id="{6D572C98-A791-AD46-AAB3-5BE4F026C018}" type="slidenum">
              <a:rPr lang="en-US" smtClean="0"/>
              <a:t>‹#›</a:t>
            </a:fld>
            <a:endParaRPr lang="en-US"/>
          </a:p>
        </p:txBody>
      </p:sp>
    </p:spTree>
    <p:extLst>
      <p:ext uri="{BB962C8B-B14F-4D97-AF65-F5344CB8AC3E}">
        <p14:creationId xmlns:p14="http://schemas.microsoft.com/office/powerpoint/2010/main" val="3337902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0F82C-8E3D-7F03-BE1A-157F562DB5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0B9CF0-7928-78E7-0F33-8FEC7AF73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CC62F7-EB2D-4EB8-55FF-EF5EC47BD9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6498B2-EF14-7C46-557A-066B3FCDBFC7}"/>
              </a:ext>
            </a:extLst>
          </p:cNvPr>
          <p:cNvSpPr>
            <a:spLocks noGrp="1"/>
          </p:cNvSpPr>
          <p:nvPr>
            <p:ph type="dt" sz="half" idx="10"/>
          </p:nvPr>
        </p:nvSpPr>
        <p:spPr/>
        <p:txBody>
          <a:bodyPr/>
          <a:lstStyle/>
          <a:p>
            <a:fld id="{F93BD4DA-A50B-B541-B3F5-D39952161FA4}" type="datetimeFigureOut">
              <a:rPr lang="en-US" smtClean="0"/>
              <a:t>5/26/26</a:t>
            </a:fld>
            <a:endParaRPr lang="en-US"/>
          </a:p>
        </p:txBody>
      </p:sp>
      <p:sp>
        <p:nvSpPr>
          <p:cNvPr id="6" name="Footer Placeholder 5">
            <a:extLst>
              <a:ext uri="{FF2B5EF4-FFF2-40B4-BE49-F238E27FC236}">
                <a16:creationId xmlns:a16="http://schemas.microsoft.com/office/drawing/2014/main" id="{DE31E0D2-DE78-E1E2-4D34-740B02E877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DF16C-C03C-DB29-192E-CFFED50C4A85}"/>
              </a:ext>
            </a:extLst>
          </p:cNvPr>
          <p:cNvSpPr>
            <a:spLocks noGrp="1"/>
          </p:cNvSpPr>
          <p:nvPr>
            <p:ph type="sldNum" sz="quarter" idx="12"/>
          </p:nvPr>
        </p:nvSpPr>
        <p:spPr/>
        <p:txBody>
          <a:bodyPr/>
          <a:lstStyle/>
          <a:p>
            <a:fld id="{6D572C98-A791-AD46-AAB3-5BE4F026C018}" type="slidenum">
              <a:rPr lang="en-US" smtClean="0"/>
              <a:t>‹#›</a:t>
            </a:fld>
            <a:endParaRPr lang="en-US"/>
          </a:p>
        </p:txBody>
      </p:sp>
    </p:spTree>
    <p:extLst>
      <p:ext uri="{BB962C8B-B14F-4D97-AF65-F5344CB8AC3E}">
        <p14:creationId xmlns:p14="http://schemas.microsoft.com/office/powerpoint/2010/main" val="2992587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42516-FFF6-31A8-616B-BDE8A3789B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CF3D53-01FE-315B-19D6-768ED37F66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5AC08-A6E3-67B1-C3CB-D75AF9B55864}"/>
              </a:ext>
            </a:extLst>
          </p:cNvPr>
          <p:cNvSpPr>
            <a:spLocks noGrp="1"/>
          </p:cNvSpPr>
          <p:nvPr>
            <p:ph type="dt" sz="half" idx="10"/>
          </p:nvPr>
        </p:nvSpPr>
        <p:spPr/>
        <p:txBody>
          <a:bodyPr/>
          <a:lstStyle/>
          <a:p>
            <a:fld id="{F93BD4DA-A50B-B541-B3F5-D39952161FA4}" type="datetimeFigureOut">
              <a:rPr lang="en-US" smtClean="0"/>
              <a:t>5/26/26</a:t>
            </a:fld>
            <a:endParaRPr lang="en-US"/>
          </a:p>
        </p:txBody>
      </p:sp>
      <p:sp>
        <p:nvSpPr>
          <p:cNvPr id="5" name="Footer Placeholder 4">
            <a:extLst>
              <a:ext uri="{FF2B5EF4-FFF2-40B4-BE49-F238E27FC236}">
                <a16:creationId xmlns:a16="http://schemas.microsoft.com/office/drawing/2014/main" id="{3AD769D7-D224-B6C1-D804-EED6360459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63EFE1-27D8-B94E-E969-35BBAE19BFF9}"/>
              </a:ext>
            </a:extLst>
          </p:cNvPr>
          <p:cNvSpPr>
            <a:spLocks noGrp="1"/>
          </p:cNvSpPr>
          <p:nvPr>
            <p:ph type="sldNum" sz="quarter" idx="12"/>
          </p:nvPr>
        </p:nvSpPr>
        <p:spPr/>
        <p:txBody>
          <a:bodyPr/>
          <a:lstStyle/>
          <a:p>
            <a:fld id="{6D572C98-A791-AD46-AAB3-5BE4F026C018}" type="slidenum">
              <a:rPr lang="en-US" smtClean="0"/>
              <a:t>‹#›</a:t>
            </a:fld>
            <a:endParaRPr lang="en-US"/>
          </a:p>
        </p:txBody>
      </p:sp>
    </p:spTree>
    <p:extLst>
      <p:ext uri="{BB962C8B-B14F-4D97-AF65-F5344CB8AC3E}">
        <p14:creationId xmlns:p14="http://schemas.microsoft.com/office/powerpoint/2010/main" val="4222094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C1BEB5-D887-0E74-F3EB-AA20877CDE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A9340D-CB95-E7CC-45A2-ADB0BD251E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92C1D3-F9D9-C9BB-888E-A89007AB83F8}"/>
              </a:ext>
            </a:extLst>
          </p:cNvPr>
          <p:cNvSpPr>
            <a:spLocks noGrp="1"/>
          </p:cNvSpPr>
          <p:nvPr>
            <p:ph type="dt" sz="half" idx="10"/>
          </p:nvPr>
        </p:nvSpPr>
        <p:spPr/>
        <p:txBody>
          <a:bodyPr/>
          <a:lstStyle/>
          <a:p>
            <a:fld id="{F93BD4DA-A50B-B541-B3F5-D39952161FA4}" type="datetimeFigureOut">
              <a:rPr lang="en-US" smtClean="0"/>
              <a:t>5/26/26</a:t>
            </a:fld>
            <a:endParaRPr lang="en-US"/>
          </a:p>
        </p:txBody>
      </p:sp>
      <p:sp>
        <p:nvSpPr>
          <p:cNvPr id="5" name="Footer Placeholder 4">
            <a:extLst>
              <a:ext uri="{FF2B5EF4-FFF2-40B4-BE49-F238E27FC236}">
                <a16:creationId xmlns:a16="http://schemas.microsoft.com/office/drawing/2014/main" id="{0F969D06-FA65-25EB-1B84-33FC054F9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1F608B-3A78-77D7-2D1A-4EB063B5BE57}"/>
              </a:ext>
            </a:extLst>
          </p:cNvPr>
          <p:cNvSpPr>
            <a:spLocks noGrp="1"/>
          </p:cNvSpPr>
          <p:nvPr>
            <p:ph type="sldNum" sz="quarter" idx="12"/>
          </p:nvPr>
        </p:nvSpPr>
        <p:spPr/>
        <p:txBody>
          <a:bodyPr/>
          <a:lstStyle/>
          <a:p>
            <a:fld id="{6D572C98-A791-AD46-AAB3-5BE4F026C018}" type="slidenum">
              <a:rPr lang="en-US" smtClean="0"/>
              <a:t>‹#›</a:t>
            </a:fld>
            <a:endParaRPr lang="en-US"/>
          </a:p>
        </p:txBody>
      </p:sp>
    </p:spTree>
    <p:extLst>
      <p:ext uri="{BB962C8B-B14F-4D97-AF65-F5344CB8AC3E}">
        <p14:creationId xmlns:p14="http://schemas.microsoft.com/office/powerpoint/2010/main" val="1655687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40EE72-6452-564C-849E-489FD1468A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11C8460-32D4-5156-257C-70AF3D2828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9D4087-F092-60CE-E71F-839B74489B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3BD4DA-A50B-B541-B3F5-D39952161FA4}" type="datetimeFigureOut">
              <a:rPr lang="en-US" smtClean="0"/>
              <a:t>5/26/26</a:t>
            </a:fld>
            <a:endParaRPr lang="en-US"/>
          </a:p>
        </p:txBody>
      </p:sp>
      <p:sp>
        <p:nvSpPr>
          <p:cNvPr id="5" name="Footer Placeholder 4">
            <a:extLst>
              <a:ext uri="{FF2B5EF4-FFF2-40B4-BE49-F238E27FC236}">
                <a16:creationId xmlns:a16="http://schemas.microsoft.com/office/drawing/2014/main" id="{C5D314C5-E295-8668-1D71-1A2A176411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2DEE77B-E750-3566-6E19-B068B5737E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572C98-A791-AD46-AAB3-5BE4F026C018}" type="slidenum">
              <a:rPr lang="en-US" smtClean="0"/>
              <a:t>‹#›</a:t>
            </a:fld>
            <a:endParaRPr lang="en-US"/>
          </a:p>
        </p:txBody>
      </p:sp>
    </p:spTree>
    <p:extLst>
      <p:ext uri="{BB962C8B-B14F-4D97-AF65-F5344CB8AC3E}">
        <p14:creationId xmlns:p14="http://schemas.microsoft.com/office/powerpoint/2010/main" val="3370268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jpeg"/><Relationship Id="rId12"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8.jpeg"/><Relationship Id="rId11" Type="http://schemas.openxmlformats.org/officeDocument/2006/relationships/image" Target="../media/image13.jpeg"/><Relationship Id="rId5" Type="http://schemas.openxmlformats.org/officeDocument/2006/relationships/image" Target="../media/image7.png"/><Relationship Id="rId10" Type="http://schemas.openxmlformats.org/officeDocument/2006/relationships/image" Target="../media/image12.jpeg"/><Relationship Id="rId4" Type="http://schemas.openxmlformats.org/officeDocument/2006/relationships/image" Target="../media/image6.jpeg"/><Relationship Id="rId9"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jpeg"/></Relationships>
</file>

<file path=ppt/slides/_rels/slide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1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6.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D0227C-137F-71D3-8BF2-1B5EC9AD285E}"/>
              </a:ext>
            </a:extLst>
          </p:cNvPr>
          <p:cNvSpPr txBox="1"/>
          <p:nvPr/>
        </p:nvSpPr>
        <p:spPr>
          <a:xfrm>
            <a:off x="429658" y="544495"/>
            <a:ext cx="11259238" cy="5262979"/>
          </a:xfrm>
          <a:prstGeom prst="rect">
            <a:avLst/>
          </a:prstGeom>
          <a:noFill/>
        </p:spPr>
        <p:txBody>
          <a:bodyPr wrap="square">
            <a:spAutoFit/>
          </a:bodyPr>
          <a:lstStyle/>
          <a:p>
            <a:pPr algn="l" rtl="0" fontAlgn="base">
              <a:buNone/>
            </a:pPr>
            <a:r>
              <a:rPr lang="en-US" sz="1400" b="1" i="0" dirty="0">
                <a:solidFill>
                  <a:srgbClr val="000000"/>
                </a:solidFill>
                <a:effectLst/>
                <a:latin typeface="Calibri" panose="020F0502020204030204" pitchFamily="34" charset="0"/>
              </a:rPr>
              <a:t>The Solo Club</a:t>
            </a:r>
            <a:endParaRPr lang="en-US" sz="1400" b="0" i="0" dirty="0">
              <a:solidFill>
                <a:srgbClr val="000000"/>
              </a:solidFill>
              <a:effectLst/>
              <a:latin typeface="Calibri" panose="020F0502020204030204" pitchFamily="34" charset="0"/>
            </a:endParaRPr>
          </a:p>
          <a:p>
            <a:pPr algn="l" rtl="0" fontAlgn="base">
              <a:buNone/>
            </a:pPr>
            <a:r>
              <a:rPr lang="en-US" sz="1400" b="1" i="0" dirty="0">
                <a:solidFill>
                  <a:srgbClr val="000000"/>
                </a:solidFill>
                <a:effectLst/>
                <a:latin typeface="Calibri" panose="020F0502020204030204" pitchFamily="34" charset="0"/>
              </a:rPr>
              <a:t>Narrative Strategic Brief</a:t>
            </a:r>
          </a:p>
          <a:p>
            <a:pPr algn="l" rtl="0" fontAlgn="base">
              <a:buNone/>
            </a:pPr>
            <a:endParaRPr lang="en-US" sz="1400" b="0" i="0" dirty="0">
              <a:solidFill>
                <a:srgbClr val="000000"/>
              </a:solidFill>
              <a:effectLst/>
              <a:latin typeface="Calibri" panose="020F0502020204030204" pitchFamily="34" charset="0"/>
            </a:endParaRPr>
          </a:p>
          <a:p>
            <a:pPr algn="l" rtl="0" fontAlgn="base">
              <a:buNone/>
            </a:pPr>
            <a:r>
              <a:rPr lang="en-US" sz="1400" b="0" i="0" dirty="0">
                <a:solidFill>
                  <a:srgbClr val="000000"/>
                </a:solidFill>
                <a:effectLst/>
                <a:latin typeface="Calibri" panose="020F0502020204030204" pitchFamily="34" charset="0"/>
              </a:rPr>
              <a:t>The Solo Club is a purpose-driven movement and community brand with running at the center. It was born from founder Kyle’s lived experience moving through a difficult personal season and discovering the power of community through movement. In that chapter of life, running became more than exercise. It became rhythm, forward motion, connection, and a way to keep going. What emerged from that experience was a brand about growth, belonging, and building what comes next.</a:t>
            </a:r>
          </a:p>
          <a:p>
            <a:pPr algn="l" rtl="0" fontAlgn="base">
              <a:buNone/>
            </a:pPr>
            <a:endParaRPr lang="en-US" sz="1400" b="0" i="0" dirty="0">
              <a:solidFill>
                <a:srgbClr val="000000"/>
              </a:solidFill>
              <a:effectLst/>
              <a:latin typeface="Calibri" panose="020F0502020204030204" pitchFamily="34" charset="0"/>
            </a:endParaRPr>
          </a:p>
          <a:p>
            <a:pPr algn="l" rtl="0" fontAlgn="base">
              <a:buNone/>
            </a:pPr>
            <a:r>
              <a:rPr lang="en-US" sz="1400" b="1" i="0" dirty="0">
                <a:solidFill>
                  <a:srgbClr val="000000"/>
                </a:solidFill>
                <a:effectLst/>
                <a:latin typeface="Calibri" panose="020F0502020204030204" pitchFamily="34" charset="0"/>
              </a:rPr>
              <a:t>At the heart of The Solo Club is a simple but powerful truth: running is a solo sport, and elevating your life is a solo effort, but both are better done with a strong community around you. </a:t>
            </a:r>
            <a:r>
              <a:rPr lang="en-US" sz="1400" b="0" i="0" dirty="0">
                <a:solidFill>
                  <a:srgbClr val="000000"/>
                </a:solidFill>
                <a:effectLst/>
                <a:latin typeface="Calibri" panose="020F0502020204030204" pitchFamily="34" charset="0"/>
              </a:rPr>
              <a:t>That tension is what gives the name its meaning. “Solo” does not mean alone. It speaks to ownership, self-direction, independence, and the personal work of becoming. “Club” is the counterbalance. It speaks to belonging, welcome, shared identity, and the reality that while your effort is your own, you do not have to move forward without people beside you. Together, the name captures a modern kind of community for people who are serious about growth but uninterested in status, pretense, or performance as social currency.</a:t>
            </a:r>
          </a:p>
          <a:p>
            <a:pPr algn="l" rtl="0" fontAlgn="base">
              <a:buNone/>
            </a:pPr>
            <a:endParaRPr lang="en-US" sz="1400" b="0" i="0" dirty="0">
              <a:solidFill>
                <a:srgbClr val="000000"/>
              </a:solidFill>
              <a:effectLst/>
              <a:latin typeface="Calibri" panose="020F0502020204030204" pitchFamily="34" charset="0"/>
            </a:endParaRPr>
          </a:p>
          <a:p>
            <a:pPr algn="l" rtl="0" fontAlgn="base">
              <a:buNone/>
            </a:pPr>
            <a:r>
              <a:rPr lang="en-US" sz="1400" b="0" i="0" dirty="0">
                <a:solidFill>
                  <a:srgbClr val="000000"/>
                </a:solidFill>
                <a:effectLst/>
                <a:latin typeface="Calibri" panose="020F0502020204030204" pitchFamily="34" charset="0"/>
              </a:rPr>
              <a:t>Although the brand is rooted in Kyle’s personal story, The Solo Club is not meant to be narrowly defined by any one life circumstance. It should not present itself publicly as a brand about divorce, single parenthood, faith, heartbreak, or any other specific identity marker. Those elements belong in the founding story, not in the outward expression of the brand. </a:t>
            </a:r>
            <a:r>
              <a:rPr lang="en-US" sz="1400" b="1" i="0" dirty="0">
                <a:solidFill>
                  <a:srgbClr val="000000"/>
                </a:solidFill>
                <a:effectLst/>
                <a:latin typeface="Calibri" panose="020F0502020204030204" pitchFamily="34" charset="0"/>
              </a:rPr>
              <a:t>The brand itself should remain broad, inclusive, and open. It is for adults in a building season of life.</a:t>
            </a:r>
            <a:r>
              <a:rPr lang="en-US" sz="1400" b="0" i="0" dirty="0">
                <a:solidFill>
                  <a:srgbClr val="000000"/>
                </a:solidFill>
                <a:effectLst/>
                <a:latin typeface="Calibri" panose="020F0502020204030204" pitchFamily="34" charset="0"/>
              </a:rPr>
              <a:t> Some may be parents, some may be single, some may be in transition, and some may simply be carrying the full weight and complexity of adulthood. What binds them together is not biography... It is a mindset.</a:t>
            </a:r>
          </a:p>
          <a:p>
            <a:pPr algn="l" rtl="0" fontAlgn="base">
              <a:buNone/>
            </a:pPr>
            <a:endParaRPr lang="en-US" sz="1400" b="0" i="0" dirty="0">
              <a:solidFill>
                <a:srgbClr val="000000"/>
              </a:solidFill>
              <a:effectLst/>
              <a:latin typeface="Calibri" panose="020F0502020204030204" pitchFamily="34" charset="0"/>
            </a:endParaRPr>
          </a:p>
          <a:p>
            <a:pPr algn="l" rtl="0" fontAlgn="base">
              <a:buNone/>
            </a:pPr>
            <a:r>
              <a:rPr lang="en-US" sz="1400" b="0" i="0" dirty="0">
                <a:solidFill>
                  <a:srgbClr val="000000"/>
                </a:solidFill>
                <a:effectLst/>
                <a:latin typeface="Calibri" panose="020F0502020204030204" pitchFamily="34" charset="0"/>
              </a:rPr>
              <a:t>That mindset is defined by perseverance, strength, and joy. Solo Club members are athletically minded, serious about improving themselves, and drawn to the idea that growth can happen in the company of others without competition for status or belonging. They value personal progress. They want to build their future. They are not looking for a scene, a clique, or a place where they need to prove something. In fact, </a:t>
            </a:r>
            <a:r>
              <a:rPr lang="en-US" sz="1400" b="1" i="0" dirty="0">
                <a:solidFill>
                  <a:srgbClr val="000000"/>
                </a:solidFill>
                <a:effectLst/>
                <a:latin typeface="Calibri" panose="020F0502020204030204" pitchFamily="34" charset="0"/>
              </a:rPr>
              <a:t>one of the clearest beliefs at the center of this brand is that there is nothing to prove. That belief should shape the identity, the voice, the experience, and the culture.</a:t>
            </a:r>
          </a:p>
        </p:txBody>
      </p:sp>
    </p:spTree>
    <p:extLst>
      <p:ext uri="{BB962C8B-B14F-4D97-AF65-F5344CB8AC3E}">
        <p14:creationId xmlns:p14="http://schemas.microsoft.com/office/powerpoint/2010/main" val="2510988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6D63B0-6183-92F1-7E32-32BAAC50DE7F}"/>
              </a:ext>
            </a:extLst>
          </p:cNvPr>
          <p:cNvSpPr txBox="1"/>
          <p:nvPr/>
        </p:nvSpPr>
        <p:spPr>
          <a:xfrm>
            <a:off x="160663" y="89813"/>
            <a:ext cx="11660436" cy="6771084"/>
          </a:xfrm>
          <a:prstGeom prst="rect">
            <a:avLst/>
          </a:prstGeom>
          <a:noFill/>
        </p:spPr>
        <p:txBody>
          <a:bodyPr wrap="square">
            <a:spAutoFit/>
          </a:bodyPr>
          <a:lstStyle/>
          <a:p>
            <a:pPr algn="l" rtl="0" fontAlgn="base">
              <a:buNone/>
            </a:pPr>
            <a:r>
              <a:rPr lang="en-US" sz="1400" b="0" i="0" dirty="0">
                <a:solidFill>
                  <a:srgbClr val="000000"/>
                </a:solidFill>
                <a:effectLst/>
                <a:latin typeface="Calibri" panose="020F0502020204030204" pitchFamily="34" charset="0"/>
              </a:rPr>
              <a:t>The Solo Club is about growth. It is not about rebuilding what was lost. It is about building what is next. </a:t>
            </a:r>
            <a:r>
              <a:rPr lang="en-US" sz="1400" b="1" i="0" dirty="0">
                <a:solidFill>
                  <a:srgbClr val="000000"/>
                </a:solidFill>
                <a:effectLst/>
                <a:latin typeface="Calibri" panose="020F0502020204030204" pitchFamily="34" charset="0"/>
              </a:rPr>
              <a:t>The emotional engine of the brand is the idea that community can turn motion into growth. That makes the brand more expansive and more hopeful. </a:t>
            </a:r>
            <a:r>
              <a:rPr lang="en-US" sz="1400" b="0" i="0" dirty="0">
                <a:solidFill>
                  <a:srgbClr val="000000"/>
                </a:solidFill>
                <a:effectLst/>
                <a:latin typeface="Calibri" panose="020F0502020204030204" pitchFamily="34" charset="0"/>
              </a:rPr>
              <a:t>It allows people who have gone through hard seasons to see themselves in it, without making pain the price of entry. The Solo Club will feel like a place where people can show up as they are, move forward, and belong.</a:t>
            </a:r>
          </a:p>
          <a:p>
            <a:pPr algn="l" rtl="0" fontAlgn="base">
              <a:buNone/>
            </a:pPr>
            <a:endParaRPr lang="en-US" sz="1400" b="0" i="0" dirty="0">
              <a:solidFill>
                <a:srgbClr val="000000"/>
              </a:solidFill>
              <a:effectLst/>
              <a:latin typeface="Calibri" panose="020F0502020204030204" pitchFamily="34" charset="0"/>
            </a:endParaRPr>
          </a:p>
          <a:p>
            <a:pPr algn="l" rtl="0" fontAlgn="base">
              <a:buNone/>
            </a:pPr>
            <a:r>
              <a:rPr lang="en-US" sz="1400" b="0" i="0" dirty="0">
                <a:solidFill>
                  <a:srgbClr val="000000"/>
                </a:solidFill>
                <a:effectLst/>
                <a:latin typeface="Calibri" panose="020F0502020204030204" pitchFamily="34" charset="0"/>
              </a:rPr>
              <a:t>From a brand strategy standpoint, community comes first and apparel comes second. That hierarchy matters. The Solo Club is not trying to become an apparel brand that later adds a community layer. It is building a community that people will want to wear. The apparel is not the deepest product. The apparel is the signal. It functions as a quiet badge of belonging. It should communicate something about the person wearing it without needing to be loud or obvious. When someone wears The Solo Club, it should signal that they are athletically minded, committed to self-improvement, and actively transforming their lives. It should reflect a person who values progress, growth, and identity without status.</a:t>
            </a:r>
          </a:p>
          <a:p>
            <a:pPr algn="l" rtl="0" fontAlgn="base">
              <a:buNone/>
            </a:pPr>
            <a:endParaRPr lang="en-US" sz="1400" b="0" i="0" dirty="0">
              <a:solidFill>
                <a:srgbClr val="000000"/>
              </a:solidFill>
              <a:effectLst/>
              <a:latin typeface="Calibri" panose="020F0502020204030204" pitchFamily="34" charset="0"/>
            </a:endParaRPr>
          </a:p>
          <a:p>
            <a:pPr algn="l" rtl="0" fontAlgn="base">
              <a:buNone/>
            </a:pPr>
            <a:r>
              <a:rPr lang="en-US" sz="1400" b="0" i="0" dirty="0">
                <a:solidFill>
                  <a:srgbClr val="000000"/>
                </a:solidFill>
                <a:effectLst/>
                <a:latin typeface="Calibri" panose="020F0502020204030204" pitchFamily="34" charset="0"/>
              </a:rPr>
              <a:t>That positioning places The Solo Club in a very specific cultural lane. </a:t>
            </a:r>
            <a:r>
              <a:rPr lang="en-US" sz="1400" b="1" i="0" dirty="0">
                <a:solidFill>
                  <a:srgbClr val="000000"/>
                </a:solidFill>
                <a:effectLst/>
                <a:latin typeface="Calibri" panose="020F0502020204030204" pitchFamily="34" charset="0"/>
              </a:rPr>
              <a:t>It should not feel like elite running culture. It should not feel like technical race apparel. It should not feel like typical run-club merchandise. It also should not feel like a therapy group, a singles scene, or a social clique.</a:t>
            </a:r>
            <a:r>
              <a:rPr lang="en-US" sz="1400" b="0" i="0" dirty="0">
                <a:solidFill>
                  <a:srgbClr val="000000"/>
                </a:solidFill>
                <a:effectLst/>
                <a:latin typeface="Calibri" panose="020F0502020204030204" pitchFamily="34" charset="0"/>
              </a:rPr>
              <a:t> The opportunity here is to create a movement-centered identity brand that runners recognize immediately, but that still feels broader, cooler, and more wearable than a conventional performance brand. It should feel like a lifestyle identity brand with real emotional depth and real social accessibility.</a:t>
            </a:r>
          </a:p>
          <a:p>
            <a:pPr algn="l" rtl="0" fontAlgn="base">
              <a:buNone/>
            </a:pPr>
            <a:endParaRPr lang="en-US" sz="1400" b="0" i="0" dirty="0">
              <a:solidFill>
                <a:srgbClr val="000000"/>
              </a:solidFill>
              <a:effectLst/>
              <a:latin typeface="Calibri" panose="020F0502020204030204" pitchFamily="34" charset="0"/>
            </a:endParaRPr>
          </a:p>
          <a:p>
            <a:pPr algn="l" rtl="0" fontAlgn="base">
              <a:buNone/>
            </a:pPr>
            <a:r>
              <a:rPr lang="en-US" sz="1400" b="1" i="0" dirty="0">
                <a:solidFill>
                  <a:srgbClr val="000000"/>
                </a:solidFill>
                <a:effectLst/>
                <a:latin typeface="Calibri" panose="020F0502020204030204" pitchFamily="34" charset="0"/>
              </a:rPr>
              <a:t>The personality of the brand should be friendly, inclusive, and fun. It should feel casual and playful, but confident. </a:t>
            </a:r>
            <a:r>
              <a:rPr lang="en-US" sz="1400" b="0" i="0" dirty="0">
                <a:solidFill>
                  <a:srgbClr val="000000"/>
                </a:solidFill>
                <a:effectLst/>
                <a:latin typeface="Calibri" panose="020F0502020204030204" pitchFamily="34" charset="0"/>
              </a:rPr>
              <a:t>If The Solo Club were a person at the run, it would be a warm host. It would be the presence that makes people feel comfortable right away. It would never be intimidating, exclusive, or self-important. </a:t>
            </a:r>
            <a:r>
              <a:rPr lang="en-US" sz="1400" b="1" i="0" dirty="0">
                <a:solidFill>
                  <a:srgbClr val="000000"/>
                </a:solidFill>
                <a:effectLst/>
                <a:latin typeface="Calibri" panose="020F0502020204030204" pitchFamily="34" charset="0"/>
              </a:rPr>
              <a:t>The emotional experience of the brand should be immediate: welcoming, level footing, and fast belonging. </a:t>
            </a:r>
            <a:r>
              <a:rPr lang="en-US" sz="1400" b="0" i="0" dirty="0">
                <a:solidFill>
                  <a:srgbClr val="000000"/>
                </a:solidFill>
                <a:effectLst/>
                <a:latin typeface="Calibri" panose="020F0502020204030204" pitchFamily="34" charset="0"/>
              </a:rPr>
              <a:t>A Solo Club run should feel different from a typical run club the moment someone shows up. There should be no hierarchy, no subtle sorting by ability or appearance, and no sense that anyone needs to earn their place. People should feel like immediate friends. The real outcome is not simply that they had a good run. It is that they leave feeling community.</a:t>
            </a:r>
          </a:p>
          <a:p>
            <a:pPr algn="l" rtl="0" fontAlgn="base">
              <a:buNone/>
            </a:pPr>
            <a:r>
              <a:rPr lang="en-US" sz="1400" b="0" i="0" dirty="0">
                <a:solidFill>
                  <a:srgbClr val="000000"/>
                </a:solidFill>
                <a:effectLst/>
                <a:latin typeface="Calibri" panose="020F0502020204030204" pitchFamily="34" charset="0"/>
              </a:rPr>
              <a:t>That sense of belonging also needs to extend beyond physical participation. The Solo Club cannot be built in a way that makes attendance the only path to membership. Someone who never joins a group run should still feel fully invited to wear the brand and belong to the community. “Club” should not feel like a closed system with hard edges. It should feel like an open badge of belonging that people can step into from many different places. That openness is central to the identity.</a:t>
            </a:r>
          </a:p>
          <a:p>
            <a:pPr algn="l" rtl="0" fontAlgn="base">
              <a:buNone/>
            </a:pPr>
            <a:endParaRPr lang="en-US" sz="1400" b="0" i="0" dirty="0">
              <a:solidFill>
                <a:srgbClr val="000000"/>
              </a:solidFill>
              <a:effectLst/>
              <a:latin typeface="Calibri" panose="020F0502020204030204" pitchFamily="34" charset="0"/>
            </a:endParaRPr>
          </a:p>
          <a:p>
            <a:pPr algn="l" rtl="0" fontAlgn="base">
              <a:buNone/>
            </a:pPr>
            <a:r>
              <a:rPr lang="en-US" sz="1400" b="0" i="0" dirty="0">
                <a:solidFill>
                  <a:srgbClr val="000000"/>
                </a:solidFill>
                <a:effectLst/>
                <a:latin typeface="Calibri" panose="020F0502020204030204" pitchFamily="34" charset="0"/>
              </a:rPr>
              <a:t>Because of that, the visual identity has an especially important job to do. The Solo Club is a broader movement-and-community brand with running at the center, but running still needs to register quickly. The logo will do much of that work. The identity system should communicate that the brand is rooted in running, while still feeling like a modern lifestyle brand rather than a purely technical athletic company. It needs to feel highly wearable, highly ownable, and strong across hats, shorts, tees, and other everyday items. It should work with clarity in black and white while leaving room for color and personality. Most importantly, the identity should not over-index on struggle or brokenness. The story can carry the emotional origin. The mark should carry the confidence.</a:t>
            </a:r>
          </a:p>
        </p:txBody>
      </p:sp>
    </p:spTree>
    <p:extLst>
      <p:ext uri="{BB962C8B-B14F-4D97-AF65-F5344CB8AC3E}">
        <p14:creationId xmlns:p14="http://schemas.microsoft.com/office/powerpoint/2010/main" val="544340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86A282-23F0-869A-5784-BA52D4F52D00}"/>
              </a:ext>
            </a:extLst>
          </p:cNvPr>
          <p:cNvSpPr txBox="1"/>
          <p:nvPr/>
        </p:nvSpPr>
        <p:spPr>
          <a:xfrm>
            <a:off x="184532" y="382656"/>
            <a:ext cx="11702667" cy="3108543"/>
          </a:xfrm>
          <a:prstGeom prst="rect">
            <a:avLst/>
          </a:prstGeom>
          <a:noFill/>
        </p:spPr>
        <p:txBody>
          <a:bodyPr wrap="square">
            <a:spAutoFit/>
          </a:bodyPr>
          <a:lstStyle/>
          <a:p>
            <a:pPr algn="l" rtl="0" fontAlgn="base">
              <a:buNone/>
            </a:pPr>
            <a:r>
              <a:rPr lang="en-US" sz="1400" b="0" i="0" dirty="0">
                <a:solidFill>
                  <a:srgbClr val="000000"/>
                </a:solidFill>
                <a:effectLst/>
                <a:latin typeface="Calibri" panose="020F0502020204030204" pitchFamily="34" charset="0"/>
              </a:rPr>
              <a:t>Verbally, The Solo Club should sound like an invitation, not a challenge. Its voice should be warm, open, confident, and human. It should be emotionally intelligent without feeling heavy. It should be playful without feeling unserious. It should never drift into preachy, self-help, overly inspirational, or exclusive territory. There is a cool factor to this brand, but it should be cool without cool-kid energy. It should feel like something people want to be part of because it reflects who they are and who they are becoming.</a:t>
            </a:r>
          </a:p>
          <a:p>
            <a:pPr algn="l" rtl="0" fontAlgn="base">
              <a:buNone/>
            </a:pPr>
            <a:endParaRPr lang="en-US" sz="1400" b="0" i="0" dirty="0">
              <a:solidFill>
                <a:srgbClr val="000000"/>
              </a:solidFill>
              <a:effectLst/>
              <a:latin typeface="Calibri" panose="020F0502020204030204" pitchFamily="34" charset="0"/>
            </a:endParaRPr>
          </a:p>
          <a:p>
            <a:pPr algn="l" rtl="0" fontAlgn="base">
              <a:buNone/>
            </a:pPr>
            <a:r>
              <a:rPr lang="en-US" sz="1400" b="0" i="0" dirty="0">
                <a:solidFill>
                  <a:srgbClr val="000000"/>
                </a:solidFill>
                <a:effectLst/>
                <a:latin typeface="Calibri" panose="020F0502020204030204" pitchFamily="34" charset="0"/>
              </a:rPr>
              <a:t>The clearest articulation of that idea so far is this: </a:t>
            </a:r>
            <a:r>
              <a:rPr lang="en-US" sz="1400" b="1" i="0" dirty="0">
                <a:solidFill>
                  <a:srgbClr val="000000"/>
                </a:solidFill>
                <a:effectLst/>
                <a:latin typeface="Calibri" panose="020F0502020204030204" pitchFamily="34" charset="0"/>
              </a:rPr>
              <a:t>For the miles between who you were and who you’re becoming.</a:t>
            </a:r>
            <a:r>
              <a:rPr lang="en-US" sz="1400" b="0" i="0" dirty="0">
                <a:solidFill>
                  <a:srgbClr val="000000"/>
                </a:solidFill>
                <a:effectLst/>
                <a:latin typeface="Calibri" panose="020F0502020204030204" pitchFamily="34" charset="0"/>
              </a:rPr>
              <a:t> That line captures the emotional tension of the brand in a way that feels elevated, human, and forward-looking. A supporting expression is </a:t>
            </a:r>
            <a:r>
              <a:rPr lang="en-US" sz="1400" b="1" i="0" dirty="0">
                <a:solidFill>
                  <a:srgbClr val="000000"/>
                </a:solidFill>
                <a:effectLst/>
                <a:latin typeface="Calibri" panose="020F0502020204030204" pitchFamily="34" charset="0"/>
              </a:rPr>
              <a:t>Built for what’s next.</a:t>
            </a:r>
            <a:r>
              <a:rPr lang="en-US" sz="1400" b="0" i="0" dirty="0">
                <a:solidFill>
                  <a:srgbClr val="000000"/>
                </a:solidFill>
                <a:effectLst/>
                <a:latin typeface="Calibri" panose="020F0502020204030204" pitchFamily="34" charset="0"/>
              </a:rPr>
              <a:t> Together, these lines speak to the deeper role of The Solo Club in people’s lives. This is not just a brand for movement. It is a brand for people building their future.</a:t>
            </a:r>
          </a:p>
          <a:p>
            <a:pPr algn="l" rtl="0" fontAlgn="base">
              <a:buNone/>
            </a:pPr>
            <a:endParaRPr lang="en-US" sz="1400" b="0" i="0" dirty="0">
              <a:solidFill>
                <a:srgbClr val="000000"/>
              </a:solidFill>
              <a:effectLst/>
              <a:latin typeface="Calibri" panose="020F0502020204030204" pitchFamily="34" charset="0"/>
            </a:endParaRPr>
          </a:p>
          <a:p>
            <a:pPr algn="l" rtl="0" fontAlgn="base">
              <a:buNone/>
            </a:pPr>
            <a:r>
              <a:rPr lang="en-US" sz="1400" b="0" i="0" dirty="0">
                <a:solidFill>
                  <a:srgbClr val="000000"/>
                </a:solidFill>
                <a:effectLst/>
                <a:latin typeface="Calibri" panose="020F0502020204030204" pitchFamily="34" charset="0"/>
              </a:rPr>
              <a:t>In summary, The Solo Club should be understood as a community-led running lifestyle brand for adults building what comes next. It should feel like a quiet badge of belonging for people who value perseverance, strength, joy, and personal growth. It should communicate running quickly, but through a brand system that feels more like an inclusive, modern club than a traditional performance-first running brand. It should feel premium but approachable, confident but welcoming, emotionally resonant but never heavy. Above all, it should make people feel that they have found a brand, and a community, where they can move forward on their own terms with others beside them.</a:t>
            </a:r>
          </a:p>
        </p:txBody>
      </p:sp>
    </p:spTree>
    <p:extLst>
      <p:ext uri="{BB962C8B-B14F-4D97-AF65-F5344CB8AC3E}">
        <p14:creationId xmlns:p14="http://schemas.microsoft.com/office/powerpoint/2010/main" val="4243354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BF3F7D-2F0E-4DBA-237F-24A05D690B86}"/>
              </a:ext>
            </a:extLst>
          </p:cNvPr>
          <p:cNvSpPr txBox="1"/>
          <p:nvPr/>
        </p:nvSpPr>
        <p:spPr>
          <a:xfrm>
            <a:off x="195549" y="266154"/>
            <a:ext cx="11548431" cy="5909310"/>
          </a:xfrm>
          <a:prstGeom prst="rect">
            <a:avLst/>
          </a:prstGeom>
          <a:noFill/>
        </p:spPr>
        <p:txBody>
          <a:bodyPr wrap="square">
            <a:spAutoFit/>
          </a:bodyPr>
          <a:lstStyle/>
          <a:p>
            <a:pPr algn="l" rtl="0" fontAlgn="base">
              <a:buNone/>
            </a:pPr>
            <a:r>
              <a:rPr lang="en-US" sz="1400" b="1" i="0" dirty="0">
                <a:solidFill>
                  <a:srgbClr val="000000"/>
                </a:solidFill>
                <a:effectLst/>
                <a:latin typeface="Calibri" panose="020F0502020204030204" pitchFamily="34" charset="0"/>
              </a:rPr>
              <a:t>Brand Overview:</a:t>
            </a:r>
            <a:endParaRPr lang="en-US" sz="1400" b="0" i="0" dirty="0">
              <a:solidFill>
                <a:srgbClr val="000000"/>
              </a:solidFill>
              <a:effectLst/>
              <a:latin typeface="Calibri" panose="020F0502020204030204" pitchFamily="34" charset="0"/>
            </a:endParaRPr>
          </a:p>
          <a:p>
            <a:pPr algn="l" rtl="0" fontAlgn="base">
              <a:buNone/>
            </a:pPr>
            <a:endParaRPr lang="en-US" sz="1400" b="0" i="0" u="sng" dirty="0">
              <a:solidFill>
                <a:srgbClr val="000000"/>
              </a:solidFill>
              <a:effectLst/>
              <a:latin typeface="Calibri" panose="020F0502020204030204" pitchFamily="34" charset="0"/>
            </a:endParaRPr>
          </a:p>
          <a:p>
            <a:pPr algn="l" rtl="0" fontAlgn="base">
              <a:buNone/>
            </a:pPr>
            <a:r>
              <a:rPr lang="en-US" sz="1400" b="0" i="0" u="sng" dirty="0">
                <a:solidFill>
                  <a:srgbClr val="000000"/>
                </a:solidFill>
                <a:effectLst/>
                <a:latin typeface="Calibri" panose="020F0502020204030204" pitchFamily="34" charset="0"/>
              </a:rPr>
              <a:t>Name: </a:t>
            </a:r>
            <a:r>
              <a:rPr lang="en-US" sz="1400" b="0" i="0" dirty="0">
                <a:solidFill>
                  <a:srgbClr val="000000"/>
                </a:solidFill>
                <a:effectLst/>
                <a:latin typeface="Calibri" panose="020F0502020204030204" pitchFamily="34" charset="0"/>
              </a:rPr>
              <a:t>The Solo Club</a:t>
            </a:r>
          </a:p>
          <a:p>
            <a:pPr algn="l" rtl="0" fontAlgn="base">
              <a:buNone/>
            </a:pPr>
            <a:endParaRPr lang="en-US" sz="1400" b="0" i="0" u="sng" dirty="0">
              <a:solidFill>
                <a:srgbClr val="000000"/>
              </a:solidFill>
              <a:effectLst/>
              <a:latin typeface="Calibri" panose="020F0502020204030204" pitchFamily="34" charset="0"/>
            </a:endParaRPr>
          </a:p>
          <a:p>
            <a:pPr algn="l" rtl="0" fontAlgn="base">
              <a:buNone/>
            </a:pPr>
            <a:r>
              <a:rPr lang="en-US" sz="1400" b="0" i="0" u="sng" dirty="0">
                <a:solidFill>
                  <a:srgbClr val="000000"/>
                </a:solidFill>
                <a:effectLst/>
                <a:latin typeface="Calibri" panose="020F0502020204030204" pitchFamily="34" charset="0"/>
              </a:rPr>
              <a:t>Tagline:</a:t>
            </a:r>
            <a:r>
              <a:rPr lang="en-US" sz="1400" b="0" i="0" dirty="0">
                <a:solidFill>
                  <a:srgbClr val="000000"/>
                </a:solidFill>
                <a:effectLst/>
                <a:latin typeface="Calibri" panose="020F0502020204030204" pitchFamily="34" charset="0"/>
              </a:rPr>
              <a:t> For the miles between who you were and who you’re becoming. </a:t>
            </a:r>
          </a:p>
          <a:p>
            <a:pPr algn="l" rtl="0" fontAlgn="base">
              <a:buNone/>
            </a:pPr>
            <a:endParaRPr lang="en-US" sz="1400" b="0" i="0" u="sng" dirty="0">
              <a:solidFill>
                <a:srgbClr val="000000"/>
              </a:solidFill>
              <a:effectLst/>
              <a:latin typeface="Calibri" panose="020F0502020204030204" pitchFamily="34" charset="0"/>
            </a:endParaRPr>
          </a:p>
          <a:p>
            <a:pPr algn="l" rtl="0" fontAlgn="base">
              <a:buNone/>
            </a:pPr>
            <a:r>
              <a:rPr lang="en-US" sz="1400" b="0" i="0" u="sng" dirty="0">
                <a:solidFill>
                  <a:srgbClr val="000000"/>
                </a:solidFill>
                <a:effectLst/>
                <a:latin typeface="Calibri" panose="020F0502020204030204" pitchFamily="34" charset="0"/>
              </a:rPr>
              <a:t>Core brand idea:</a:t>
            </a:r>
            <a:r>
              <a:rPr lang="en-US" sz="1400" b="0" i="0" dirty="0">
                <a:solidFill>
                  <a:srgbClr val="000000"/>
                </a:solidFill>
                <a:effectLst/>
                <a:latin typeface="Calibri" panose="020F0502020204030204" pitchFamily="34" charset="0"/>
              </a:rPr>
              <a:t> Running is a solo sport. Elevating your life is a solo effort. But both are better done with a strong community to support you. This is the core paradox of the brand and the meaning inside the name.</a:t>
            </a:r>
          </a:p>
          <a:p>
            <a:pPr algn="l" fontAlgn="base">
              <a:buNone/>
            </a:pPr>
            <a:endParaRPr lang="en-US" sz="1400" b="0" i="0" u="sng" dirty="0">
              <a:solidFill>
                <a:srgbClr val="000000"/>
              </a:solidFill>
              <a:effectLst/>
              <a:latin typeface="Calibri" panose="020F0502020204030204" pitchFamily="34" charset="0"/>
            </a:endParaRPr>
          </a:p>
          <a:p>
            <a:pPr algn="l" fontAlgn="base">
              <a:buNone/>
            </a:pPr>
            <a:r>
              <a:rPr lang="en-US" sz="1400" b="0" i="0" u="sng" dirty="0">
                <a:solidFill>
                  <a:srgbClr val="000000"/>
                </a:solidFill>
                <a:effectLst/>
                <a:latin typeface="Calibri" panose="020F0502020204030204" pitchFamily="34" charset="0"/>
              </a:rPr>
              <a:t>What the brand is: </a:t>
            </a:r>
            <a:r>
              <a:rPr lang="en-US" sz="1400" b="0" i="0" dirty="0">
                <a:solidFill>
                  <a:srgbClr val="000000"/>
                </a:solidFill>
                <a:effectLst/>
                <a:latin typeface="Calibri" panose="020F0502020204030204" pitchFamily="34" charset="0"/>
              </a:rPr>
              <a:t>A broader movement-and-community brand with running at the center.</a:t>
            </a:r>
          </a:p>
          <a:p>
            <a:pPr algn="l" fontAlgn="base">
              <a:buFont typeface="Arial" panose="020B0604020202020204" pitchFamily="34" charset="0"/>
              <a:buChar char="•"/>
            </a:pPr>
            <a:r>
              <a:rPr lang="en-US" sz="1400" b="0" i="0" dirty="0">
                <a:solidFill>
                  <a:srgbClr val="000000"/>
                </a:solidFill>
                <a:effectLst/>
                <a:latin typeface="Calibri" panose="020F0502020204030204" pitchFamily="34" charset="0"/>
              </a:rPr>
              <a:t>This is not just a run club.</a:t>
            </a:r>
          </a:p>
          <a:p>
            <a:pPr algn="l" fontAlgn="base">
              <a:buFont typeface="Arial" panose="020B0604020202020204" pitchFamily="34" charset="0"/>
              <a:buChar char="•"/>
            </a:pPr>
            <a:r>
              <a:rPr lang="en-US" sz="1400" b="0" i="0" dirty="0">
                <a:solidFill>
                  <a:srgbClr val="000000"/>
                </a:solidFill>
                <a:effectLst/>
                <a:latin typeface="Calibri" panose="020F0502020204030204" pitchFamily="34" charset="0"/>
              </a:rPr>
              <a:t>This is not just an apparel line.</a:t>
            </a:r>
          </a:p>
          <a:p>
            <a:pPr algn="l" fontAlgn="base">
              <a:buFont typeface="Arial" panose="020B0604020202020204" pitchFamily="34" charset="0"/>
              <a:buChar char="•"/>
            </a:pPr>
            <a:r>
              <a:rPr lang="en-US" sz="1400" b="0" i="0" dirty="0">
                <a:solidFill>
                  <a:srgbClr val="000000"/>
                </a:solidFill>
                <a:effectLst/>
                <a:latin typeface="Calibri" panose="020F0502020204030204" pitchFamily="34" charset="0"/>
              </a:rPr>
              <a:t>This is an identity brand and a community. - Community comes first. Apparel comes second.</a:t>
            </a:r>
          </a:p>
          <a:p>
            <a:pPr algn="l" fontAlgn="base">
              <a:buNone/>
            </a:pPr>
            <a:br>
              <a:rPr lang="en-US" sz="1400" b="0" i="0" dirty="0">
                <a:solidFill>
                  <a:srgbClr val="000000"/>
                </a:solidFill>
                <a:effectLst/>
                <a:latin typeface="Calibri" panose="020F0502020204030204" pitchFamily="34" charset="0"/>
              </a:rPr>
            </a:br>
            <a:r>
              <a:rPr lang="en-US" sz="1400" b="0" i="0" u="sng" dirty="0">
                <a:solidFill>
                  <a:srgbClr val="000000"/>
                </a:solidFill>
                <a:effectLst/>
                <a:latin typeface="Calibri" panose="020F0502020204030204" pitchFamily="34" charset="0"/>
              </a:rPr>
              <a:t>Brand truth:</a:t>
            </a:r>
            <a:r>
              <a:rPr lang="en-US" sz="1400" b="0" i="0" dirty="0">
                <a:solidFill>
                  <a:srgbClr val="000000"/>
                </a:solidFill>
                <a:effectLst/>
                <a:latin typeface="Calibri" panose="020F0502020204030204" pitchFamily="34" charset="0"/>
              </a:rPr>
              <a:t> Adults building life through running and community.</a:t>
            </a:r>
            <a:br>
              <a:rPr lang="en-US" sz="1400" b="0" i="0" dirty="0">
                <a:solidFill>
                  <a:srgbClr val="000000"/>
                </a:solidFill>
                <a:effectLst/>
                <a:latin typeface="Calibri" panose="020F0502020204030204" pitchFamily="34" charset="0"/>
              </a:rPr>
            </a:br>
            <a:endParaRPr lang="en-US" sz="1400" b="0" i="0" dirty="0">
              <a:solidFill>
                <a:srgbClr val="000000"/>
              </a:solidFill>
              <a:effectLst/>
              <a:latin typeface="Calibri" panose="020F0502020204030204" pitchFamily="34" charset="0"/>
            </a:endParaRPr>
          </a:p>
          <a:p>
            <a:pPr algn="l" fontAlgn="base">
              <a:buNone/>
            </a:pPr>
            <a:r>
              <a:rPr lang="en-US" sz="1400" b="0" i="0" u="sng" dirty="0">
                <a:solidFill>
                  <a:srgbClr val="000000"/>
                </a:solidFill>
                <a:effectLst/>
                <a:latin typeface="Calibri" panose="020F0502020204030204" pitchFamily="34" charset="0"/>
              </a:rPr>
              <a:t>Audience:</a:t>
            </a:r>
            <a:r>
              <a:rPr lang="en-US" sz="1400" b="0" i="0" dirty="0">
                <a:solidFill>
                  <a:srgbClr val="000000"/>
                </a:solidFill>
                <a:effectLst/>
                <a:latin typeface="Calibri" panose="020F0502020204030204" pitchFamily="34" charset="0"/>
              </a:rPr>
              <a:t> The Solo Club is for adults in a building season of life.  The shared bond is led first by mindset, then enriched by life stage and emotional season.</a:t>
            </a:r>
          </a:p>
          <a:p>
            <a:pPr algn="l" fontAlgn="base">
              <a:buNone/>
            </a:pPr>
            <a:r>
              <a:rPr lang="en-US" sz="1400" b="0" i="0" dirty="0">
                <a:solidFill>
                  <a:srgbClr val="000000"/>
                </a:solidFill>
                <a:effectLst/>
                <a:latin typeface="Calibri" panose="020F0502020204030204" pitchFamily="34" charset="0"/>
              </a:rPr>
              <a:t>This audience is adults:</a:t>
            </a:r>
          </a:p>
          <a:p>
            <a:pPr algn="l" fontAlgn="base">
              <a:buFont typeface="Arial" panose="020B0604020202020204" pitchFamily="34" charset="0"/>
              <a:buChar char="•"/>
            </a:pPr>
            <a:r>
              <a:rPr lang="en-US" sz="1400" b="0" i="0" dirty="0">
                <a:solidFill>
                  <a:srgbClr val="000000"/>
                </a:solidFill>
                <a:effectLst/>
                <a:latin typeface="Calibri" panose="020F0502020204030204" pitchFamily="34" charset="0"/>
              </a:rPr>
              <a:t>persevering</a:t>
            </a:r>
          </a:p>
          <a:p>
            <a:pPr algn="l" fontAlgn="base">
              <a:buFont typeface="Arial" panose="020B0604020202020204" pitchFamily="34" charset="0"/>
              <a:buChar char="•"/>
            </a:pPr>
            <a:r>
              <a:rPr lang="en-US" sz="1400" b="0" i="0" dirty="0">
                <a:solidFill>
                  <a:srgbClr val="000000"/>
                </a:solidFill>
                <a:effectLst/>
                <a:latin typeface="Calibri" panose="020F0502020204030204" pitchFamily="34" charset="0"/>
              </a:rPr>
              <a:t>strong</a:t>
            </a:r>
          </a:p>
          <a:p>
            <a:pPr algn="l" fontAlgn="base">
              <a:buFont typeface="Arial" panose="020B0604020202020204" pitchFamily="34" charset="0"/>
              <a:buChar char="•"/>
            </a:pPr>
            <a:r>
              <a:rPr lang="en-US" sz="1400" b="0" i="0" dirty="0">
                <a:solidFill>
                  <a:srgbClr val="000000"/>
                </a:solidFill>
                <a:effectLst/>
                <a:latin typeface="Calibri" panose="020F0502020204030204" pitchFamily="34" charset="0"/>
              </a:rPr>
              <a:t>joyful</a:t>
            </a:r>
          </a:p>
          <a:p>
            <a:pPr algn="l" fontAlgn="base">
              <a:buFont typeface="Arial" panose="020B0604020202020204" pitchFamily="34" charset="0"/>
              <a:buChar char="•"/>
            </a:pPr>
            <a:r>
              <a:rPr lang="en-US" sz="1400" b="0" i="0" dirty="0">
                <a:solidFill>
                  <a:srgbClr val="000000"/>
                </a:solidFill>
                <a:effectLst/>
                <a:latin typeface="Calibri" panose="020F0502020204030204" pitchFamily="34" charset="0"/>
              </a:rPr>
              <a:t>athletically minded</a:t>
            </a:r>
          </a:p>
          <a:p>
            <a:pPr algn="l" fontAlgn="base">
              <a:buFont typeface="Arial" panose="020B0604020202020204" pitchFamily="34" charset="0"/>
              <a:buChar char="•"/>
            </a:pPr>
            <a:r>
              <a:rPr lang="en-US" sz="1400" b="0" i="0" dirty="0">
                <a:solidFill>
                  <a:srgbClr val="000000"/>
                </a:solidFill>
                <a:effectLst/>
                <a:latin typeface="Calibri" panose="020F0502020204030204" pitchFamily="34" charset="0"/>
              </a:rPr>
              <a:t>serious about improving themselves</a:t>
            </a:r>
          </a:p>
          <a:p>
            <a:pPr algn="l" fontAlgn="base">
              <a:buFont typeface="Arial" panose="020B0604020202020204" pitchFamily="34" charset="0"/>
              <a:buChar char="•"/>
            </a:pPr>
            <a:r>
              <a:rPr lang="en-US" sz="1400" b="0" i="0" dirty="0">
                <a:solidFill>
                  <a:srgbClr val="000000"/>
                </a:solidFill>
                <a:effectLst/>
                <a:latin typeface="Calibri" panose="020F0502020204030204" pitchFamily="34" charset="0"/>
              </a:rPr>
              <a:t>drawn to community without status</a:t>
            </a:r>
          </a:p>
          <a:p>
            <a:pPr algn="l" fontAlgn="base">
              <a:buNone/>
            </a:pPr>
            <a:r>
              <a:rPr lang="en-US" sz="1400" b="0" i="0" dirty="0">
                <a:solidFill>
                  <a:srgbClr val="000000"/>
                </a:solidFill>
                <a:effectLst/>
                <a:latin typeface="Calibri" panose="020F0502020204030204" pitchFamily="34" charset="0"/>
              </a:rPr>
              <a:t>They may be parents, single parents, or neither. They may be in their 30s, 40s, 50s, or beyond. The brand should not visibly center family status, faith, divorce, or any one life circumstance. It needs to stay inclusive and open.</a:t>
            </a:r>
          </a:p>
        </p:txBody>
      </p:sp>
    </p:spTree>
    <p:extLst>
      <p:ext uri="{BB962C8B-B14F-4D97-AF65-F5344CB8AC3E}">
        <p14:creationId xmlns:p14="http://schemas.microsoft.com/office/powerpoint/2010/main" val="2028525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inged Foot Golf Club - Five Clubs Golf">
            <a:extLst>
              <a:ext uri="{FF2B5EF4-FFF2-40B4-BE49-F238E27FC236}">
                <a16:creationId xmlns:a16="http://schemas.microsoft.com/office/drawing/2014/main" id="{FADF602F-C9D0-0EE8-6FC9-DF699C2DB95F}"/>
              </a:ext>
            </a:extLst>
          </p:cNvPr>
          <p:cNvPicPr>
            <a:picLocks noChangeAspect="1"/>
          </p:cNvPicPr>
          <p:nvPr/>
        </p:nvPicPr>
        <p:blipFill>
          <a:blip r:embed="rId2"/>
          <a:srcRect l="14898" r="20520"/>
          <a:stretch>
            <a:fillRect/>
          </a:stretch>
        </p:blipFill>
        <p:spPr>
          <a:xfrm>
            <a:off x="9369468" y="292432"/>
            <a:ext cx="2141952" cy="2197380"/>
          </a:xfrm>
          <a:prstGeom prst="rect">
            <a:avLst/>
          </a:prstGeom>
        </p:spPr>
      </p:pic>
      <p:pic>
        <p:nvPicPr>
          <p:cNvPr id="5" name="Picture 4" descr="BROOMSEDGE">
            <a:extLst>
              <a:ext uri="{FF2B5EF4-FFF2-40B4-BE49-F238E27FC236}">
                <a16:creationId xmlns:a16="http://schemas.microsoft.com/office/drawing/2014/main" id="{E672E6E6-3A4B-20A9-18AE-C7D331EDC8CB}"/>
              </a:ext>
            </a:extLst>
          </p:cNvPr>
          <p:cNvPicPr>
            <a:picLocks noChangeAspect="1"/>
          </p:cNvPicPr>
          <p:nvPr/>
        </p:nvPicPr>
        <p:blipFill>
          <a:blip r:embed="rId3"/>
          <a:stretch>
            <a:fillRect/>
          </a:stretch>
        </p:blipFill>
        <p:spPr>
          <a:xfrm>
            <a:off x="10350252" y="2981194"/>
            <a:ext cx="1045389" cy="3275555"/>
          </a:xfrm>
          <a:prstGeom prst="rect">
            <a:avLst/>
          </a:prstGeom>
        </p:spPr>
      </p:pic>
      <p:pic>
        <p:nvPicPr>
          <p:cNvPr id="6" name="Picture 5" descr="The Hay | Short Course | Pebble Beach Resorts">
            <a:extLst>
              <a:ext uri="{FF2B5EF4-FFF2-40B4-BE49-F238E27FC236}">
                <a16:creationId xmlns:a16="http://schemas.microsoft.com/office/drawing/2014/main" id="{3C3814CD-960E-B4AD-C5AC-382AA591BF4D}"/>
              </a:ext>
            </a:extLst>
          </p:cNvPr>
          <p:cNvPicPr>
            <a:picLocks noChangeAspect="1"/>
          </p:cNvPicPr>
          <p:nvPr/>
        </p:nvPicPr>
        <p:blipFill>
          <a:blip r:embed="rId4"/>
          <a:srcRect l="12519" r="21300"/>
          <a:stretch>
            <a:fillRect/>
          </a:stretch>
        </p:blipFill>
        <p:spPr>
          <a:xfrm>
            <a:off x="6789106" y="4482768"/>
            <a:ext cx="2580361" cy="2082800"/>
          </a:xfrm>
          <a:prstGeom prst="rect">
            <a:avLst/>
          </a:prstGeom>
        </p:spPr>
      </p:pic>
      <p:pic>
        <p:nvPicPr>
          <p:cNvPr id="7" name="Picture 6" descr="Top 10 Iconic Golf Course Logos: Design &amp; Inspiration">
            <a:extLst>
              <a:ext uri="{FF2B5EF4-FFF2-40B4-BE49-F238E27FC236}">
                <a16:creationId xmlns:a16="http://schemas.microsoft.com/office/drawing/2014/main" id="{9A81A959-4532-1EC5-6D32-E3AEA580EAAB}"/>
              </a:ext>
            </a:extLst>
          </p:cNvPr>
          <p:cNvPicPr>
            <a:picLocks noChangeAspect="1"/>
          </p:cNvPicPr>
          <p:nvPr/>
        </p:nvPicPr>
        <p:blipFill>
          <a:blip r:embed="rId5"/>
          <a:srcRect l="9825" t="15134" r="5353" b="15825"/>
          <a:stretch>
            <a:fillRect/>
          </a:stretch>
        </p:blipFill>
        <p:spPr>
          <a:xfrm>
            <a:off x="6789106" y="2285386"/>
            <a:ext cx="2699639" cy="2197381"/>
          </a:xfrm>
          <a:prstGeom prst="rect">
            <a:avLst/>
          </a:prstGeom>
        </p:spPr>
      </p:pic>
      <p:sp>
        <p:nvSpPr>
          <p:cNvPr id="8" name="TextBox 7">
            <a:extLst>
              <a:ext uri="{FF2B5EF4-FFF2-40B4-BE49-F238E27FC236}">
                <a16:creationId xmlns:a16="http://schemas.microsoft.com/office/drawing/2014/main" id="{C9202CE5-9263-B861-1FCD-611E89B1EA8A}"/>
              </a:ext>
            </a:extLst>
          </p:cNvPr>
          <p:cNvSpPr txBox="1"/>
          <p:nvPr/>
        </p:nvSpPr>
        <p:spPr>
          <a:xfrm>
            <a:off x="685998" y="2840390"/>
            <a:ext cx="5612716" cy="3524042"/>
          </a:xfrm>
          <a:prstGeom prst="rect">
            <a:avLst/>
          </a:prstGeom>
          <a:noFill/>
        </p:spPr>
        <p:txBody>
          <a:bodyPr wrap="square" rtlCol="0">
            <a:spAutoFit/>
          </a:bodyPr>
          <a:lstStyle/>
          <a:p>
            <a:r>
              <a:rPr lang="en-US" dirty="0"/>
              <a:t>Identity Vision:</a:t>
            </a:r>
          </a:p>
          <a:p>
            <a:pPr marL="285750" indent="-285750">
              <a:spcAft>
                <a:spcPts val="600"/>
              </a:spcAft>
              <a:buFont typeface="Arial" panose="020B0604020202020204" pitchFamily="34" charset="0"/>
              <a:buChar char="•"/>
            </a:pPr>
            <a:r>
              <a:rPr lang="en-US" dirty="0"/>
              <a:t>Running shoe that got run over by a truck</a:t>
            </a:r>
          </a:p>
          <a:p>
            <a:pPr marL="285750" indent="-285750">
              <a:spcAft>
                <a:spcPts val="600"/>
              </a:spcAft>
              <a:buFont typeface="Arial" panose="020B0604020202020204" pitchFamily="34" charset="0"/>
              <a:buChar char="•"/>
            </a:pPr>
            <a:r>
              <a:rPr lang="en-US" dirty="0"/>
              <a:t>With wings, but one is broken and the sole of the shoe is separating from the shoe</a:t>
            </a:r>
          </a:p>
          <a:p>
            <a:pPr marL="285750" indent="-285750">
              <a:spcAft>
                <a:spcPts val="600"/>
              </a:spcAft>
              <a:buFont typeface="Arial" panose="020B0604020202020204" pitchFamily="34" charset="0"/>
              <a:buChar char="•"/>
            </a:pPr>
            <a:r>
              <a:rPr lang="en-US" dirty="0"/>
              <a:t>Must look good on a hat as well as it does on a pair of shorts</a:t>
            </a:r>
          </a:p>
          <a:p>
            <a:pPr marL="285750" indent="-285750">
              <a:spcAft>
                <a:spcPts val="600"/>
              </a:spcAft>
              <a:buFont typeface="Arial" panose="020B0604020202020204" pitchFamily="34" charset="0"/>
              <a:buChar char="•"/>
            </a:pPr>
            <a:r>
              <a:rPr lang="en-US" dirty="0"/>
              <a:t>Needs to be simple – looks good in both black and white, but also in full color</a:t>
            </a:r>
          </a:p>
          <a:p>
            <a:pPr marL="285750" indent="-285750">
              <a:spcAft>
                <a:spcPts val="600"/>
              </a:spcAft>
              <a:buFont typeface="Arial" panose="020B0604020202020204" pitchFamily="34" charset="0"/>
              <a:buChar char="•"/>
            </a:pPr>
            <a:r>
              <a:rPr lang="en-US" dirty="0"/>
              <a:t>No depth – more flat appearing – icon not cartoon character</a:t>
            </a:r>
          </a:p>
          <a:p>
            <a:pPr marL="285750" indent="-285750">
              <a:spcAft>
                <a:spcPts val="600"/>
              </a:spcAft>
              <a:buFont typeface="Arial" panose="020B0604020202020204" pitchFamily="34" charset="0"/>
              <a:buChar char="•"/>
            </a:pPr>
            <a:r>
              <a:rPr lang="en-US" dirty="0"/>
              <a:t>Not vintage</a:t>
            </a:r>
          </a:p>
        </p:txBody>
      </p:sp>
      <p:sp>
        <p:nvSpPr>
          <p:cNvPr id="3" name="TextBox 2">
            <a:extLst>
              <a:ext uri="{FF2B5EF4-FFF2-40B4-BE49-F238E27FC236}">
                <a16:creationId xmlns:a16="http://schemas.microsoft.com/office/drawing/2014/main" id="{97434A9A-456B-41E4-8817-E87BBC86FED2}"/>
              </a:ext>
            </a:extLst>
          </p:cNvPr>
          <p:cNvSpPr txBox="1"/>
          <p:nvPr/>
        </p:nvSpPr>
        <p:spPr>
          <a:xfrm>
            <a:off x="680580" y="255067"/>
            <a:ext cx="6097836" cy="2308324"/>
          </a:xfrm>
          <a:prstGeom prst="rect">
            <a:avLst/>
          </a:prstGeom>
          <a:noFill/>
        </p:spPr>
        <p:txBody>
          <a:bodyPr wrap="square">
            <a:spAutoFit/>
          </a:bodyPr>
          <a:lstStyle/>
          <a:p>
            <a:pPr algn="l" fontAlgn="base">
              <a:buNone/>
            </a:pPr>
            <a:r>
              <a:rPr lang="en-US" sz="1800" b="0" i="0" u="sng" dirty="0">
                <a:solidFill>
                  <a:srgbClr val="000000"/>
                </a:solidFill>
                <a:effectLst/>
                <a:latin typeface="Calibri" panose="020F0502020204030204" pitchFamily="34" charset="0"/>
              </a:rPr>
              <a:t>Desired brand feel: </a:t>
            </a:r>
            <a:r>
              <a:rPr lang="en-US" sz="1800" b="0" i="0" dirty="0">
                <a:solidFill>
                  <a:srgbClr val="000000"/>
                </a:solidFill>
                <a:effectLst/>
                <a:latin typeface="Calibri" panose="020F0502020204030204" pitchFamily="34" charset="0"/>
              </a:rPr>
              <a:t> Friendly. Inclusive. Fun.</a:t>
            </a:r>
          </a:p>
          <a:p>
            <a:pPr algn="l" fontAlgn="base">
              <a:buNone/>
            </a:pPr>
            <a:endParaRPr lang="en-US" sz="1800" b="0" i="0" dirty="0">
              <a:solidFill>
                <a:srgbClr val="000000"/>
              </a:solidFill>
              <a:effectLst/>
              <a:latin typeface="Calibri" panose="020F0502020204030204" pitchFamily="34" charset="0"/>
            </a:endParaRPr>
          </a:p>
          <a:p>
            <a:pPr algn="l" fontAlgn="base">
              <a:buNone/>
            </a:pPr>
            <a:r>
              <a:rPr lang="en-US" sz="1800" b="0" i="0" dirty="0">
                <a:solidFill>
                  <a:srgbClr val="000000"/>
                </a:solidFill>
                <a:effectLst/>
                <a:latin typeface="Calibri" panose="020F0502020204030204" pitchFamily="34" charset="0"/>
              </a:rPr>
              <a:t>Its personality should be:</a:t>
            </a:r>
          </a:p>
          <a:p>
            <a:pPr marL="285750" indent="-285750" algn="l" fontAlgn="base">
              <a:buFont typeface="Arial" panose="020B0604020202020204" pitchFamily="34" charset="0"/>
              <a:buChar char="•"/>
            </a:pPr>
            <a:r>
              <a:rPr lang="en-US" sz="1800" b="0" i="0" dirty="0">
                <a:solidFill>
                  <a:srgbClr val="000000"/>
                </a:solidFill>
                <a:effectLst/>
                <a:latin typeface="Calibri" panose="020F0502020204030204" pitchFamily="34" charset="0"/>
              </a:rPr>
              <a:t>casual and playful</a:t>
            </a:r>
          </a:p>
          <a:p>
            <a:pPr marL="285750" indent="-285750" algn="l" fontAlgn="base">
              <a:buFont typeface="Arial" panose="020B0604020202020204" pitchFamily="34" charset="0"/>
              <a:buChar char="•"/>
            </a:pPr>
            <a:r>
              <a:rPr lang="en-US" sz="1800" b="0" i="0" dirty="0">
                <a:solidFill>
                  <a:srgbClr val="000000"/>
                </a:solidFill>
                <a:effectLst/>
                <a:latin typeface="Calibri" panose="020F0502020204030204" pitchFamily="34" charset="0"/>
              </a:rPr>
              <a:t>confident</a:t>
            </a:r>
          </a:p>
          <a:p>
            <a:pPr marL="285750" indent="-285750" algn="l" fontAlgn="base">
              <a:buFont typeface="Arial" panose="020B0604020202020204" pitchFamily="34" charset="0"/>
              <a:buChar char="•"/>
            </a:pPr>
            <a:r>
              <a:rPr lang="en-US" sz="1800" b="0" i="0" dirty="0">
                <a:solidFill>
                  <a:srgbClr val="000000"/>
                </a:solidFill>
                <a:effectLst/>
                <a:latin typeface="Calibri" panose="020F0502020204030204" pitchFamily="34" charset="0"/>
              </a:rPr>
              <a:t>welcoming</a:t>
            </a:r>
          </a:p>
          <a:p>
            <a:pPr marL="285750" indent="-285750" algn="l" fontAlgn="base">
              <a:buFont typeface="Arial" panose="020B0604020202020204" pitchFamily="34" charset="0"/>
              <a:buChar char="•"/>
            </a:pPr>
            <a:r>
              <a:rPr lang="en-US" sz="1800" b="0" i="0" dirty="0">
                <a:solidFill>
                  <a:srgbClr val="000000"/>
                </a:solidFill>
                <a:effectLst/>
                <a:latin typeface="Calibri" panose="020F0502020204030204" pitchFamily="34" charset="0"/>
              </a:rPr>
              <a:t>warm</a:t>
            </a:r>
          </a:p>
          <a:p>
            <a:pPr marL="285750" indent="-285750" algn="l" fontAlgn="base">
              <a:buFont typeface="Arial" panose="020B0604020202020204" pitchFamily="34" charset="0"/>
              <a:buChar char="•"/>
            </a:pPr>
            <a:r>
              <a:rPr lang="en-US" sz="1800" b="0" i="0" dirty="0">
                <a:solidFill>
                  <a:srgbClr val="000000"/>
                </a:solidFill>
                <a:effectLst/>
                <a:latin typeface="Calibri" panose="020F0502020204030204" pitchFamily="34" charset="0"/>
              </a:rPr>
              <a:t>unpretentious</a:t>
            </a:r>
            <a:endParaRPr lang="en-US" dirty="0"/>
          </a:p>
        </p:txBody>
      </p:sp>
    </p:spTree>
    <p:extLst>
      <p:ext uri="{BB962C8B-B14F-4D97-AF65-F5344CB8AC3E}">
        <p14:creationId xmlns:p14="http://schemas.microsoft.com/office/powerpoint/2010/main" val="3298600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 Character designs, themes, templates and downloadable graphic elements  on Dribbble">
            <a:extLst>
              <a:ext uri="{FF2B5EF4-FFF2-40B4-BE49-F238E27FC236}">
                <a16:creationId xmlns:a16="http://schemas.microsoft.com/office/drawing/2014/main" id="{58994F08-4C01-6CF1-3A33-DF528DBD3E9E}"/>
              </a:ext>
            </a:extLst>
          </p:cNvPr>
          <p:cNvPicPr>
            <a:picLocks noChangeAspect="1"/>
          </p:cNvPicPr>
          <p:nvPr/>
        </p:nvPicPr>
        <p:blipFill>
          <a:blip r:embed="rId3"/>
          <a:stretch>
            <a:fillRect/>
          </a:stretch>
        </p:blipFill>
        <p:spPr>
          <a:xfrm>
            <a:off x="9678443" y="602290"/>
            <a:ext cx="2126641" cy="1594981"/>
          </a:xfrm>
          <a:prstGeom prst="rect">
            <a:avLst/>
          </a:prstGeom>
        </p:spPr>
      </p:pic>
      <p:pic>
        <p:nvPicPr>
          <p:cNvPr id="4" name="Picture 3" descr="NATIVE... . . . . . #logo #logodesign #design #brand #graphicdesign #art  #newyork #branding #usa #logousa #americandesign #diseño #logolemon  #viralvideos #logotipo #logoart #logoawesome #illustrator #illustration  #vector #flatdesign #logoinspirations ...">
            <a:extLst>
              <a:ext uri="{FF2B5EF4-FFF2-40B4-BE49-F238E27FC236}">
                <a16:creationId xmlns:a16="http://schemas.microsoft.com/office/drawing/2014/main" id="{E9476BB7-70B2-5BE6-FB67-A01C45752C7E}"/>
              </a:ext>
            </a:extLst>
          </p:cNvPr>
          <p:cNvPicPr>
            <a:picLocks noChangeAspect="1"/>
          </p:cNvPicPr>
          <p:nvPr/>
        </p:nvPicPr>
        <p:blipFill>
          <a:blip r:embed="rId4"/>
          <a:stretch>
            <a:fillRect/>
          </a:stretch>
        </p:blipFill>
        <p:spPr>
          <a:xfrm>
            <a:off x="9865898" y="2367418"/>
            <a:ext cx="1939186" cy="1939186"/>
          </a:xfrm>
          <a:prstGeom prst="rect">
            <a:avLst/>
          </a:prstGeom>
        </p:spPr>
      </p:pic>
      <p:sp>
        <p:nvSpPr>
          <p:cNvPr id="5" name="Title 4">
            <a:extLst>
              <a:ext uri="{FF2B5EF4-FFF2-40B4-BE49-F238E27FC236}">
                <a16:creationId xmlns:a16="http://schemas.microsoft.com/office/drawing/2014/main" id="{1703737D-1E11-56C1-319B-C46C2FDFF9AE}"/>
              </a:ext>
            </a:extLst>
          </p:cNvPr>
          <p:cNvSpPr>
            <a:spLocks noGrp="1"/>
          </p:cNvSpPr>
          <p:nvPr>
            <p:ph type="title"/>
          </p:nvPr>
        </p:nvSpPr>
        <p:spPr/>
        <p:txBody>
          <a:bodyPr/>
          <a:lstStyle/>
          <a:p>
            <a:r>
              <a:rPr lang="en-US" dirty="0"/>
              <a:t>Good might look like</a:t>
            </a:r>
          </a:p>
        </p:txBody>
      </p:sp>
      <p:pic>
        <p:nvPicPr>
          <p:cNvPr id="7" name="Picture 6" descr="60+ Best Mascots logo 2026 UI/UX Inspiration | Muzli">
            <a:extLst>
              <a:ext uri="{FF2B5EF4-FFF2-40B4-BE49-F238E27FC236}">
                <a16:creationId xmlns:a16="http://schemas.microsoft.com/office/drawing/2014/main" id="{A331625C-8425-4A3F-B3C3-B2F0F980C683}"/>
              </a:ext>
            </a:extLst>
          </p:cNvPr>
          <p:cNvPicPr>
            <a:picLocks noChangeAspect="1"/>
          </p:cNvPicPr>
          <p:nvPr/>
        </p:nvPicPr>
        <p:blipFill>
          <a:blip r:embed="rId5"/>
          <a:stretch>
            <a:fillRect/>
          </a:stretch>
        </p:blipFill>
        <p:spPr>
          <a:xfrm>
            <a:off x="6267235" y="2384957"/>
            <a:ext cx="3411208" cy="1921647"/>
          </a:xfrm>
          <a:prstGeom prst="rect">
            <a:avLst/>
          </a:prstGeom>
        </p:spPr>
      </p:pic>
      <p:pic>
        <p:nvPicPr>
          <p:cNvPr id="8" name="Picture 7" descr="Trident Old King Logo">
            <a:extLst>
              <a:ext uri="{FF2B5EF4-FFF2-40B4-BE49-F238E27FC236}">
                <a16:creationId xmlns:a16="http://schemas.microsoft.com/office/drawing/2014/main" id="{37368D23-CCCA-6780-8B95-F1C69F648405}"/>
              </a:ext>
            </a:extLst>
          </p:cNvPr>
          <p:cNvPicPr>
            <a:picLocks noChangeAspect="1"/>
          </p:cNvPicPr>
          <p:nvPr/>
        </p:nvPicPr>
        <p:blipFill>
          <a:blip r:embed="rId6"/>
          <a:stretch>
            <a:fillRect/>
          </a:stretch>
        </p:blipFill>
        <p:spPr>
          <a:xfrm>
            <a:off x="3517038" y="2367418"/>
            <a:ext cx="2217724" cy="1660829"/>
          </a:xfrm>
          <a:prstGeom prst="rect">
            <a:avLst/>
          </a:prstGeom>
        </p:spPr>
      </p:pic>
      <p:pic>
        <p:nvPicPr>
          <p:cNvPr id="9" name="Picture 8" descr="Bull Logo by Design District on Dribbble">
            <a:extLst>
              <a:ext uri="{FF2B5EF4-FFF2-40B4-BE49-F238E27FC236}">
                <a16:creationId xmlns:a16="http://schemas.microsoft.com/office/drawing/2014/main" id="{379EDE31-E0B6-55D3-7FC4-73315F8F9265}"/>
              </a:ext>
            </a:extLst>
          </p:cNvPr>
          <p:cNvPicPr>
            <a:picLocks noChangeAspect="1"/>
          </p:cNvPicPr>
          <p:nvPr/>
        </p:nvPicPr>
        <p:blipFill>
          <a:blip r:embed="rId7"/>
          <a:stretch>
            <a:fillRect/>
          </a:stretch>
        </p:blipFill>
        <p:spPr>
          <a:xfrm>
            <a:off x="9173887" y="4447419"/>
            <a:ext cx="2631197" cy="1752965"/>
          </a:xfrm>
          <a:prstGeom prst="rect">
            <a:avLst/>
          </a:prstGeom>
        </p:spPr>
      </p:pic>
      <p:pic>
        <p:nvPicPr>
          <p:cNvPr id="10" name="Picture 9" descr="Modern Minimalist And 3D Creative Logo Designer | Legiit">
            <a:extLst>
              <a:ext uri="{FF2B5EF4-FFF2-40B4-BE49-F238E27FC236}">
                <a16:creationId xmlns:a16="http://schemas.microsoft.com/office/drawing/2014/main" id="{458E6649-B0BE-38D0-2C86-480FCAD03D2A}"/>
              </a:ext>
            </a:extLst>
          </p:cNvPr>
          <p:cNvPicPr>
            <a:picLocks noChangeAspect="1"/>
          </p:cNvPicPr>
          <p:nvPr/>
        </p:nvPicPr>
        <p:blipFill>
          <a:blip r:embed="rId8"/>
          <a:srcRect r="66147" b="66855"/>
          <a:stretch>
            <a:fillRect/>
          </a:stretch>
        </p:blipFill>
        <p:spPr>
          <a:xfrm>
            <a:off x="6267235" y="4610257"/>
            <a:ext cx="2631197" cy="1725825"/>
          </a:xfrm>
          <a:prstGeom prst="rect">
            <a:avLst/>
          </a:prstGeom>
        </p:spPr>
      </p:pic>
      <p:pic>
        <p:nvPicPr>
          <p:cNvPr id="11" name="Picture 10" descr="Heritage Logo Projects :: Photos, videos, logos, illustrations and branding  :: Behance">
            <a:extLst>
              <a:ext uri="{FF2B5EF4-FFF2-40B4-BE49-F238E27FC236}">
                <a16:creationId xmlns:a16="http://schemas.microsoft.com/office/drawing/2014/main" id="{7A9594DE-27C8-3978-8329-3633165FE440}"/>
              </a:ext>
            </a:extLst>
          </p:cNvPr>
          <p:cNvPicPr>
            <a:picLocks noChangeAspect="1"/>
          </p:cNvPicPr>
          <p:nvPr/>
        </p:nvPicPr>
        <p:blipFill>
          <a:blip r:embed="rId9"/>
          <a:stretch>
            <a:fillRect/>
          </a:stretch>
        </p:blipFill>
        <p:spPr>
          <a:xfrm>
            <a:off x="3747985" y="4610257"/>
            <a:ext cx="2243795" cy="1752965"/>
          </a:xfrm>
          <a:prstGeom prst="rect">
            <a:avLst/>
          </a:prstGeom>
        </p:spPr>
      </p:pic>
      <p:pic>
        <p:nvPicPr>
          <p:cNvPr id="12" name="Picture 11" descr="Sports Logos - Free Sports Logo Ideas, Design &amp; Templates">
            <a:extLst>
              <a:ext uri="{FF2B5EF4-FFF2-40B4-BE49-F238E27FC236}">
                <a16:creationId xmlns:a16="http://schemas.microsoft.com/office/drawing/2014/main" id="{E959E53B-4B4A-0C9C-B003-51FDF3B13AF7}"/>
              </a:ext>
            </a:extLst>
          </p:cNvPr>
          <p:cNvPicPr>
            <a:picLocks noChangeAspect="1"/>
          </p:cNvPicPr>
          <p:nvPr/>
        </p:nvPicPr>
        <p:blipFill>
          <a:blip r:embed="rId10"/>
          <a:stretch>
            <a:fillRect/>
          </a:stretch>
        </p:blipFill>
        <p:spPr>
          <a:xfrm>
            <a:off x="2046734" y="4704977"/>
            <a:ext cx="1752965" cy="1752965"/>
          </a:xfrm>
          <a:prstGeom prst="rect">
            <a:avLst/>
          </a:prstGeom>
        </p:spPr>
      </p:pic>
      <p:pic>
        <p:nvPicPr>
          <p:cNvPr id="13" name="Picture 12" descr="Apparel Logo Maker &amp; Design Templates - LogoAI">
            <a:extLst>
              <a:ext uri="{FF2B5EF4-FFF2-40B4-BE49-F238E27FC236}">
                <a16:creationId xmlns:a16="http://schemas.microsoft.com/office/drawing/2014/main" id="{3A38EB74-576C-CFE7-81A0-032FFB336AB8}"/>
              </a:ext>
            </a:extLst>
          </p:cNvPr>
          <p:cNvPicPr>
            <a:picLocks noChangeAspect="1"/>
          </p:cNvPicPr>
          <p:nvPr/>
        </p:nvPicPr>
        <p:blipFill>
          <a:blip r:embed="rId11"/>
          <a:stretch>
            <a:fillRect/>
          </a:stretch>
        </p:blipFill>
        <p:spPr>
          <a:xfrm>
            <a:off x="1249041" y="2573211"/>
            <a:ext cx="2498944" cy="1874208"/>
          </a:xfrm>
          <a:prstGeom prst="rect">
            <a:avLst/>
          </a:prstGeom>
        </p:spPr>
      </p:pic>
      <p:pic>
        <p:nvPicPr>
          <p:cNvPr id="14" name="Picture 13" descr="Customized Greyson apparel | Anthem Branding">
            <a:extLst>
              <a:ext uri="{FF2B5EF4-FFF2-40B4-BE49-F238E27FC236}">
                <a16:creationId xmlns:a16="http://schemas.microsoft.com/office/drawing/2014/main" id="{9A17E7F5-4D15-0CB6-1FD3-B92801B8171D}"/>
              </a:ext>
            </a:extLst>
          </p:cNvPr>
          <p:cNvPicPr>
            <a:picLocks noChangeAspect="1"/>
          </p:cNvPicPr>
          <p:nvPr/>
        </p:nvPicPr>
        <p:blipFill>
          <a:blip r:embed="rId12"/>
          <a:stretch>
            <a:fillRect/>
          </a:stretch>
        </p:blipFill>
        <p:spPr>
          <a:xfrm>
            <a:off x="7081299" y="450051"/>
            <a:ext cx="1783080" cy="1783080"/>
          </a:xfrm>
          <a:prstGeom prst="rect">
            <a:avLst/>
          </a:prstGeom>
        </p:spPr>
      </p:pic>
      <p:pic>
        <p:nvPicPr>
          <p:cNvPr id="15" name="Picture 14" descr="Ping: Attached to a Brand">
            <a:extLst>
              <a:ext uri="{FF2B5EF4-FFF2-40B4-BE49-F238E27FC236}">
                <a16:creationId xmlns:a16="http://schemas.microsoft.com/office/drawing/2014/main" id="{905008F4-231B-BF94-F6F5-7A51BCFD7020}"/>
              </a:ext>
            </a:extLst>
          </p:cNvPr>
          <p:cNvPicPr>
            <a:picLocks noChangeAspect="1"/>
          </p:cNvPicPr>
          <p:nvPr/>
        </p:nvPicPr>
        <p:blipFill>
          <a:blip r:embed="rId13"/>
          <a:stretch>
            <a:fillRect/>
          </a:stretch>
        </p:blipFill>
        <p:spPr>
          <a:xfrm>
            <a:off x="1423089" y="1303938"/>
            <a:ext cx="1561476" cy="1561476"/>
          </a:xfrm>
          <a:prstGeom prst="rect">
            <a:avLst/>
          </a:prstGeom>
        </p:spPr>
      </p:pic>
    </p:spTree>
    <p:extLst>
      <p:ext uri="{BB962C8B-B14F-4D97-AF65-F5344CB8AC3E}">
        <p14:creationId xmlns:p14="http://schemas.microsoft.com/office/powerpoint/2010/main" val="1513134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FC89C-9AF1-6D6C-9E6F-679922E7A6D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C66361C-DCE0-4156-3D2A-2D20105EE41E}"/>
              </a:ext>
            </a:extLst>
          </p:cNvPr>
          <p:cNvSpPr>
            <a:spLocks noGrp="1"/>
          </p:cNvSpPr>
          <p:nvPr>
            <p:ph type="title"/>
          </p:nvPr>
        </p:nvSpPr>
        <p:spPr/>
        <p:txBody>
          <a:bodyPr/>
          <a:lstStyle/>
          <a:p>
            <a:r>
              <a:rPr lang="en-US" dirty="0"/>
              <a:t>Not like these</a:t>
            </a:r>
          </a:p>
        </p:txBody>
      </p:sp>
      <p:pic>
        <p:nvPicPr>
          <p:cNvPr id="6" name="Picture 5" descr="Character Logo Projects :: Photos, videos, logos, illustrations and  branding :: Behance">
            <a:extLst>
              <a:ext uri="{FF2B5EF4-FFF2-40B4-BE49-F238E27FC236}">
                <a16:creationId xmlns:a16="http://schemas.microsoft.com/office/drawing/2014/main" id="{F7A27F9E-BAA2-545C-15FA-974D1D08F57F}"/>
              </a:ext>
            </a:extLst>
          </p:cNvPr>
          <p:cNvPicPr>
            <a:picLocks noChangeAspect="1"/>
          </p:cNvPicPr>
          <p:nvPr/>
        </p:nvPicPr>
        <p:blipFill>
          <a:blip r:embed="rId2"/>
          <a:stretch>
            <a:fillRect/>
          </a:stretch>
        </p:blipFill>
        <p:spPr>
          <a:xfrm>
            <a:off x="8939766" y="592616"/>
            <a:ext cx="2805645" cy="2196143"/>
          </a:xfrm>
          <a:prstGeom prst="rect">
            <a:avLst/>
          </a:prstGeom>
        </p:spPr>
      </p:pic>
      <p:pic>
        <p:nvPicPr>
          <p:cNvPr id="7" name="Picture 6" descr="10 Best Twitch Logo Ideas &amp; Inspiration in March 2026 | Designhill">
            <a:extLst>
              <a:ext uri="{FF2B5EF4-FFF2-40B4-BE49-F238E27FC236}">
                <a16:creationId xmlns:a16="http://schemas.microsoft.com/office/drawing/2014/main" id="{022D49F3-5AA7-9B15-6083-CC04FEDAFCAA}"/>
              </a:ext>
            </a:extLst>
          </p:cNvPr>
          <p:cNvPicPr>
            <a:picLocks noChangeAspect="1"/>
          </p:cNvPicPr>
          <p:nvPr/>
        </p:nvPicPr>
        <p:blipFill>
          <a:blip r:embed="rId3"/>
          <a:stretch>
            <a:fillRect/>
          </a:stretch>
        </p:blipFill>
        <p:spPr>
          <a:xfrm>
            <a:off x="9084635" y="3118980"/>
            <a:ext cx="2515905" cy="2515905"/>
          </a:xfrm>
          <a:prstGeom prst="rect">
            <a:avLst/>
          </a:prstGeom>
        </p:spPr>
      </p:pic>
      <p:pic>
        <p:nvPicPr>
          <p:cNvPr id="8" name="Picture 7" descr="Lamp Logo Graphics, Designs &amp; Templates | GraphicRiver">
            <a:extLst>
              <a:ext uri="{FF2B5EF4-FFF2-40B4-BE49-F238E27FC236}">
                <a16:creationId xmlns:a16="http://schemas.microsoft.com/office/drawing/2014/main" id="{D69DE772-6B5F-BFB3-DD24-C2BF177A2C7C}"/>
              </a:ext>
            </a:extLst>
          </p:cNvPr>
          <p:cNvPicPr>
            <a:picLocks noChangeAspect="1"/>
          </p:cNvPicPr>
          <p:nvPr/>
        </p:nvPicPr>
        <p:blipFill>
          <a:blip r:embed="rId4"/>
          <a:stretch>
            <a:fillRect/>
          </a:stretch>
        </p:blipFill>
        <p:spPr>
          <a:xfrm>
            <a:off x="5153928" y="3118980"/>
            <a:ext cx="3785838" cy="2515905"/>
          </a:xfrm>
          <a:prstGeom prst="rect">
            <a:avLst/>
          </a:prstGeom>
        </p:spPr>
      </p:pic>
      <p:pic>
        <p:nvPicPr>
          <p:cNvPr id="9" name="Picture 8" descr="Funny Logo Vector Art, Icons, and Graphics for Free Download">
            <a:extLst>
              <a:ext uri="{FF2B5EF4-FFF2-40B4-BE49-F238E27FC236}">
                <a16:creationId xmlns:a16="http://schemas.microsoft.com/office/drawing/2014/main" id="{90178532-02C6-F77F-3472-B5448CC324D5}"/>
              </a:ext>
            </a:extLst>
          </p:cNvPr>
          <p:cNvPicPr>
            <a:picLocks noChangeAspect="1"/>
          </p:cNvPicPr>
          <p:nvPr/>
        </p:nvPicPr>
        <p:blipFill>
          <a:blip r:embed="rId5"/>
          <a:stretch>
            <a:fillRect/>
          </a:stretch>
        </p:blipFill>
        <p:spPr>
          <a:xfrm>
            <a:off x="1516056" y="2785622"/>
            <a:ext cx="3182620" cy="3182620"/>
          </a:xfrm>
          <a:prstGeom prst="rect">
            <a:avLst/>
          </a:prstGeom>
        </p:spPr>
      </p:pic>
      <p:pic>
        <p:nvPicPr>
          <p:cNvPr id="10" name="Picture 9" descr="Cheerful Cartoon Hot Dog Mascot Logo Design: Retro Style, Funny Food  Character Illustration Stock Vector - Illustration of face, thumbs:  392662421">
            <a:extLst>
              <a:ext uri="{FF2B5EF4-FFF2-40B4-BE49-F238E27FC236}">
                <a16:creationId xmlns:a16="http://schemas.microsoft.com/office/drawing/2014/main" id="{7EEA6518-5F30-6CC5-0984-28750C3DB1BC}"/>
              </a:ext>
            </a:extLst>
          </p:cNvPr>
          <p:cNvPicPr>
            <a:picLocks noChangeAspect="1"/>
          </p:cNvPicPr>
          <p:nvPr/>
        </p:nvPicPr>
        <p:blipFill>
          <a:blip r:embed="rId6"/>
          <a:stretch>
            <a:fillRect/>
          </a:stretch>
        </p:blipFill>
        <p:spPr>
          <a:xfrm>
            <a:off x="6096000" y="824308"/>
            <a:ext cx="2031676" cy="2031676"/>
          </a:xfrm>
          <a:prstGeom prst="rect">
            <a:avLst/>
          </a:prstGeom>
        </p:spPr>
      </p:pic>
    </p:spTree>
    <p:extLst>
      <p:ext uri="{BB962C8B-B14F-4D97-AF65-F5344CB8AC3E}">
        <p14:creationId xmlns:p14="http://schemas.microsoft.com/office/powerpoint/2010/main" val="72196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26363-967A-CF29-CEB8-864467CBEDBB}"/>
              </a:ext>
            </a:extLst>
          </p:cNvPr>
          <p:cNvSpPr txBox="1"/>
          <p:nvPr/>
        </p:nvSpPr>
        <p:spPr>
          <a:xfrm>
            <a:off x="1233888" y="1090670"/>
            <a:ext cx="5221995" cy="369332"/>
          </a:xfrm>
          <a:prstGeom prst="rect">
            <a:avLst/>
          </a:prstGeom>
          <a:noFill/>
        </p:spPr>
        <p:txBody>
          <a:bodyPr wrap="square" rtlCol="0">
            <a:spAutoFit/>
          </a:bodyPr>
          <a:lstStyle/>
          <a:p>
            <a:r>
              <a:rPr lang="en-US" dirty="0"/>
              <a:t>Inspirational brand #1 - </a:t>
            </a:r>
            <a:r>
              <a:rPr lang="en-US" dirty="0" err="1"/>
              <a:t>goodr</a:t>
            </a:r>
            <a:endParaRPr lang="en-US" dirty="0"/>
          </a:p>
        </p:txBody>
      </p:sp>
      <p:pic>
        <p:nvPicPr>
          <p:cNvPr id="1026" name="Picture 2" descr="LN Vintage Goodr Flamingo Featherlight Running Cycling Bike Dri-Fit  FlashDry Hat | eBay">
            <a:extLst>
              <a:ext uri="{FF2B5EF4-FFF2-40B4-BE49-F238E27FC236}">
                <a16:creationId xmlns:a16="http://schemas.microsoft.com/office/drawing/2014/main" id="{6B5BA52B-342F-4A89-99E2-B3E433BC61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896" y="319487"/>
            <a:ext cx="3531745" cy="25724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ame Goodr — Goodr Sunglasses EU">
            <a:extLst>
              <a:ext uri="{FF2B5EF4-FFF2-40B4-BE49-F238E27FC236}">
                <a16:creationId xmlns:a16="http://schemas.microsoft.com/office/drawing/2014/main" id="{8416D878-58BE-1193-14EB-4DF66C671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3721" y="3429000"/>
            <a:ext cx="3581920" cy="129723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ince Goodr Is A Running Sunglasses Brand Created For - Goodr Logo Png -  Free Transparent PNG Clipart Images Download">
            <a:extLst>
              <a:ext uri="{FF2B5EF4-FFF2-40B4-BE49-F238E27FC236}">
                <a16:creationId xmlns:a16="http://schemas.microsoft.com/office/drawing/2014/main" id="{256B955C-A8EE-3019-830B-1B9D1FE881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5534" y="3429000"/>
            <a:ext cx="4425864" cy="298745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he 1% goodr for the Planet Challenge">
            <a:extLst>
              <a:ext uri="{FF2B5EF4-FFF2-40B4-BE49-F238E27FC236}">
                <a16:creationId xmlns:a16="http://schemas.microsoft.com/office/drawing/2014/main" id="{39401463-CF2C-9EBD-A1CB-573E72967D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69239" y="319487"/>
            <a:ext cx="2802159" cy="27995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091D9F2-ABDA-252F-8F50-8C30907CC075}"/>
              </a:ext>
            </a:extLst>
          </p:cNvPr>
          <p:cNvSpPr txBox="1"/>
          <p:nvPr/>
        </p:nvSpPr>
        <p:spPr>
          <a:xfrm>
            <a:off x="1233888" y="1534604"/>
            <a:ext cx="2908454" cy="369332"/>
          </a:xfrm>
          <a:prstGeom prst="rect">
            <a:avLst/>
          </a:prstGeom>
          <a:noFill/>
        </p:spPr>
        <p:txBody>
          <a:bodyPr wrap="square">
            <a:spAutoFit/>
          </a:bodyPr>
          <a:lstStyle/>
          <a:p>
            <a:r>
              <a:rPr lang="en-US" dirty="0"/>
              <a:t>https://</a:t>
            </a:r>
            <a:r>
              <a:rPr lang="en-US" dirty="0" err="1"/>
              <a:t>goodr.com</a:t>
            </a:r>
            <a:r>
              <a:rPr lang="en-US" dirty="0"/>
              <a:t>/</a:t>
            </a:r>
          </a:p>
        </p:txBody>
      </p:sp>
    </p:spTree>
    <p:extLst>
      <p:ext uri="{BB962C8B-B14F-4D97-AF65-F5344CB8AC3E}">
        <p14:creationId xmlns:p14="http://schemas.microsoft.com/office/powerpoint/2010/main" val="1631804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9A917E-7C59-1E4D-D5F4-EE45429138E4}"/>
              </a:ext>
            </a:extLst>
          </p:cNvPr>
          <p:cNvSpPr txBox="1"/>
          <p:nvPr/>
        </p:nvSpPr>
        <p:spPr>
          <a:xfrm>
            <a:off x="1203559" y="2089904"/>
            <a:ext cx="6097904" cy="369332"/>
          </a:xfrm>
          <a:prstGeom prst="rect">
            <a:avLst/>
          </a:prstGeom>
          <a:noFill/>
        </p:spPr>
        <p:txBody>
          <a:bodyPr wrap="square">
            <a:spAutoFit/>
          </a:bodyPr>
          <a:lstStyle/>
          <a:p>
            <a:r>
              <a:rPr lang="en-US" dirty="0"/>
              <a:t>https://</a:t>
            </a:r>
            <a:r>
              <a:rPr lang="en-US" dirty="0" err="1"/>
              <a:t>www.sugarloafsocialclub.com</a:t>
            </a:r>
            <a:r>
              <a:rPr lang="en-US" dirty="0"/>
              <a:t>/</a:t>
            </a:r>
          </a:p>
        </p:txBody>
      </p:sp>
      <p:sp>
        <p:nvSpPr>
          <p:cNvPr id="3" name="TextBox 2">
            <a:extLst>
              <a:ext uri="{FF2B5EF4-FFF2-40B4-BE49-F238E27FC236}">
                <a16:creationId xmlns:a16="http://schemas.microsoft.com/office/drawing/2014/main" id="{13D7689C-DD4B-45D2-9374-8DC2C7FC38BD}"/>
              </a:ext>
            </a:extLst>
          </p:cNvPr>
          <p:cNvSpPr txBox="1"/>
          <p:nvPr/>
        </p:nvSpPr>
        <p:spPr>
          <a:xfrm>
            <a:off x="1233888" y="1090670"/>
            <a:ext cx="5221995" cy="369332"/>
          </a:xfrm>
          <a:prstGeom prst="rect">
            <a:avLst/>
          </a:prstGeom>
          <a:noFill/>
        </p:spPr>
        <p:txBody>
          <a:bodyPr wrap="square" rtlCol="0">
            <a:spAutoFit/>
          </a:bodyPr>
          <a:lstStyle/>
          <a:p>
            <a:r>
              <a:rPr lang="en-US" dirty="0"/>
              <a:t>Inspirational brand #2 – Sugar Loaf Social Club</a:t>
            </a:r>
          </a:p>
        </p:txBody>
      </p:sp>
      <p:pic>
        <p:nvPicPr>
          <p:cNvPr id="2050" name="Picture 2" descr="Sugarloaf Social Club - YouTube">
            <a:extLst>
              <a:ext uri="{FF2B5EF4-FFF2-40B4-BE49-F238E27FC236}">
                <a16:creationId xmlns:a16="http://schemas.microsoft.com/office/drawing/2014/main" id="{D18AEC24-555E-85B7-72FD-52B2078A07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0008" y="96398"/>
            <a:ext cx="3332602" cy="333260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ourasaurus State Park T-Shirt - Flo Blue / S">
            <a:extLst>
              <a:ext uri="{FF2B5EF4-FFF2-40B4-BE49-F238E27FC236}">
                <a16:creationId xmlns:a16="http://schemas.microsoft.com/office/drawing/2014/main" id="{B70388FC-0BF5-5D2E-DD64-814C7D9497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1687" y="3201317"/>
            <a:ext cx="3160923" cy="316092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lay Or Perish Badge T-Shirt - Watermelon / S">
            <a:extLst>
              <a:ext uri="{FF2B5EF4-FFF2-40B4-BE49-F238E27FC236}">
                <a16:creationId xmlns:a16="http://schemas.microsoft.com/office/drawing/2014/main" id="{C6DB5735-32AB-89E5-91E7-B5643A1A96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5549" y="3608712"/>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943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6DC04-776C-3B95-8F19-9972A957DB70}"/>
              </a:ext>
            </a:extLst>
          </p:cNvPr>
          <p:cNvSpPr>
            <a:spLocks noGrp="1"/>
          </p:cNvSpPr>
          <p:nvPr>
            <p:ph type="title"/>
          </p:nvPr>
        </p:nvSpPr>
        <p:spPr/>
        <p:txBody>
          <a:bodyPr/>
          <a:lstStyle/>
          <a:p>
            <a:r>
              <a:rPr lang="en-US" dirty="0"/>
              <a:t>Inspiration colors</a:t>
            </a:r>
          </a:p>
        </p:txBody>
      </p:sp>
      <p:pic>
        <p:nvPicPr>
          <p:cNvPr id="3" name="Picture 2" descr="Macho Man Randy Savage's 7 Best (&amp; 7 Worst) Attires">
            <a:extLst>
              <a:ext uri="{FF2B5EF4-FFF2-40B4-BE49-F238E27FC236}">
                <a16:creationId xmlns:a16="http://schemas.microsoft.com/office/drawing/2014/main" id="{F85A5D40-EF45-FE33-1105-00A35E18185C}"/>
              </a:ext>
            </a:extLst>
          </p:cNvPr>
          <p:cNvPicPr>
            <a:picLocks noChangeAspect="1"/>
          </p:cNvPicPr>
          <p:nvPr/>
        </p:nvPicPr>
        <p:blipFill>
          <a:blip r:embed="rId2"/>
          <a:stretch>
            <a:fillRect/>
          </a:stretch>
        </p:blipFill>
        <p:spPr>
          <a:xfrm>
            <a:off x="7284720" y="4236524"/>
            <a:ext cx="3886200" cy="2256351"/>
          </a:xfrm>
          <a:prstGeom prst="rect">
            <a:avLst/>
          </a:prstGeom>
        </p:spPr>
      </p:pic>
      <p:sp>
        <p:nvSpPr>
          <p:cNvPr id="4" name="TextBox 3">
            <a:extLst>
              <a:ext uri="{FF2B5EF4-FFF2-40B4-BE49-F238E27FC236}">
                <a16:creationId xmlns:a16="http://schemas.microsoft.com/office/drawing/2014/main" id="{66E73828-BBE0-5806-2A69-37870EE5C3BD}"/>
              </a:ext>
            </a:extLst>
          </p:cNvPr>
          <p:cNvSpPr txBox="1"/>
          <p:nvPr/>
        </p:nvSpPr>
        <p:spPr>
          <a:xfrm>
            <a:off x="1154430" y="2434590"/>
            <a:ext cx="3028950" cy="1200329"/>
          </a:xfrm>
          <a:prstGeom prst="rect">
            <a:avLst/>
          </a:prstGeom>
          <a:noFill/>
        </p:spPr>
        <p:txBody>
          <a:bodyPr wrap="square" rtlCol="0">
            <a:spAutoFit/>
          </a:bodyPr>
          <a:lstStyle/>
          <a:p>
            <a:r>
              <a:rPr lang="en-US" dirty="0"/>
              <a:t>Hot pink</a:t>
            </a:r>
          </a:p>
          <a:p>
            <a:r>
              <a:rPr lang="en-US" dirty="0"/>
              <a:t>Bright deep blue (electron)</a:t>
            </a:r>
          </a:p>
          <a:p>
            <a:r>
              <a:rPr lang="en-US" dirty="0"/>
              <a:t>Yellow</a:t>
            </a:r>
          </a:p>
          <a:p>
            <a:endParaRPr lang="en-US" dirty="0"/>
          </a:p>
        </p:txBody>
      </p:sp>
      <p:pic>
        <p:nvPicPr>
          <p:cNvPr id="5" name="Picture 4" descr="How Much Would You Pay for This Pristine, 27,000-Mile 2000 Honda Civic Si?">
            <a:extLst>
              <a:ext uri="{FF2B5EF4-FFF2-40B4-BE49-F238E27FC236}">
                <a16:creationId xmlns:a16="http://schemas.microsoft.com/office/drawing/2014/main" id="{9F0D9D8D-91B0-3250-4706-B930C5CB1D5D}"/>
              </a:ext>
            </a:extLst>
          </p:cNvPr>
          <p:cNvPicPr>
            <a:picLocks noChangeAspect="1"/>
          </p:cNvPicPr>
          <p:nvPr/>
        </p:nvPicPr>
        <p:blipFill>
          <a:blip r:embed="rId3"/>
          <a:stretch>
            <a:fillRect/>
          </a:stretch>
        </p:blipFill>
        <p:spPr>
          <a:xfrm>
            <a:off x="7142560" y="1956516"/>
            <a:ext cx="4028360" cy="2014180"/>
          </a:xfrm>
          <a:prstGeom prst="rect">
            <a:avLst/>
          </a:prstGeom>
        </p:spPr>
      </p:pic>
      <p:pic>
        <p:nvPicPr>
          <p:cNvPr id="7" name="Picture 6" descr="Goodr OG Sunglasses - Flamingos On A Booze Cruise">
            <a:extLst>
              <a:ext uri="{FF2B5EF4-FFF2-40B4-BE49-F238E27FC236}">
                <a16:creationId xmlns:a16="http://schemas.microsoft.com/office/drawing/2014/main" id="{3897338F-7A62-976B-82FA-D9DC2338AAEC}"/>
              </a:ext>
            </a:extLst>
          </p:cNvPr>
          <p:cNvPicPr>
            <a:picLocks noChangeAspect="1"/>
          </p:cNvPicPr>
          <p:nvPr/>
        </p:nvPicPr>
        <p:blipFill>
          <a:blip r:embed="rId4"/>
          <a:stretch>
            <a:fillRect/>
          </a:stretch>
        </p:blipFill>
        <p:spPr>
          <a:xfrm>
            <a:off x="2278460" y="4127500"/>
            <a:ext cx="4864100" cy="2730500"/>
          </a:xfrm>
          <a:prstGeom prst="rect">
            <a:avLst/>
          </a:prstGeom>
        </p:spPr>
      </p:pic>
    </p:spTree>
    <p:extLst>
      <p:ext uri="{BB962C8B-B14F-4D97-AF65-F5344CB8AC3E}">
        <p14:creationId xmlns:p14="http://schemas.microsoft.com/office/powerpoint/2010/main" val="23893967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cf8654c-45df-4744-80e5-3c1656731b8e}" enabled="0" method="" siteId="{6cf8654c-45df-4744-80e5-3c1656731b8e}" removed="1"/>
</clbl:labelList>
</file>

<file path=docProps/app.xml><?xml version="1.0" encoding="utf-8"?>
<Properties xmlns="http://schemas.openxmlformats.org/officeDocument/2006/extended-properties" xmlns:vt="http://schemas.openxmlformats.org/officeDocument/2006/docPropsVTypes">
  <TotalTime>41574</TotalTime>
  <Words>1911</Words>
  <Application>Microsoft Macintosh PowerPoint</Application>
  <PresentationFormat>Widescreen</PresentationFormat>
  <Paragraphs>73</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Good might look like</vt:lpstr>
      <vt:lpstr>Not like these</vt:lpstr>
      <vt:lpstr>PowerPoint Presentation</vt:lpstr>
      <vt:lpstr>PowerPoint Presentation</vt:lpstr>
      <vt:lpstr>Inspiration colors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Simpson, Timothy</dc:creator>
  <cp:lastModifiedBy>Simpson, Timothy</cp:lastModifiedBy>
  <cp:revision>5</cp:revision>
  <dcterms:created xsi:type="dcterms:W3CDTF">2026-03-19T15:16:56Z</dcterms:created>
  <dcterms:modified xsi:type="dcterms:W3CDTF">2026-05-26T20:31:17Z</dcterms:modified>
</cp:coreProperties>
</file>